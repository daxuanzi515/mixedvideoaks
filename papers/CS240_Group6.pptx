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51" r:id="rId2"/>
    <p:sldId id="460" r:id="rId3"/>
    <p:sldId id="452" r:id="rId4"/>
    <p:sldId id="453" r:id="rId5"/>
    <p:sldId id="457" r:id="rId6"/>
    <p:sldId id="458" r:id="rId7"/>
    <p:sldId id="459" r:id="rId8"/>
    <p:sldId id="454" r:id="rId9"/>
    <p:sldId id="462" r:id="rId10"/>
    <p:sldId id="463" r:id="rId11"/>
    <p:sldId id="461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嘉禾" initials="石嘉禾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E00BB"/>
    <a:srgbClr val="003AA3"/>
    <a:srgbClr val="FF4B4B"/>
    <a:srgbClr val="D8B9BA"/>
    <a:srgbClr val="99B3D7"/>
    <a:srgbClr val="DC9D9C"/>
    <a:srgbClr val="2800AE"/>
    <a:srgbClr val="014099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F8F6646-4D71-4396-A21B-ED43A112D7C4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6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6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6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6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6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511A09FF-02E1-4139-B6DB-B6AF536A3128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6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6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6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6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6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66" autoAdjust="0"/>
    <p:restoredTop sz="74539" autoAdjust="0"/>
  </p:normalViewPr>
  <p:slideViewPr>
    <p:cSldViewPr snapToGrid="0">
      <p:cViewPr varScale="1">
        <p:scale>
          <a:sx n="65" d="100"/>
          <a:sy n="65" d="100"/>
        </p:scale>
        <p:origin x="12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2025/6/5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4647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Times New Roman" panose="02020603050405020304" pitchFamily="18" charset="0"/>
              </a:defRPr>
            </a:lvl1pPr>
          </a:lstStyle>
          <a:p>
            <a:fld id="{F650F083-6108-4243-A388-DDB13CB06986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Times New Roman" panose="02020603050405020304" pitchFamily="18" charset="0"/>
              </a:defRPr>
            </a:lvl1pPr>
          </a:lstStyle>
          <a:p>
            <a:fld id="{8E831F93-DC01-482F-AB5B-F81885DA7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14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老师同学们好，我们是第六小组，我们的项目题目是 用于混合视频的自适应关键帧采样方法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54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分工如下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783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由于上下文窗口有限，多模态大型语言模型在处理长视频时面临挑战。</a:t>
            </a:r>
            <a:endParaRPr lang="en-US" altLang="zh-CN" dirty="0" smtClean="0"/>
          </a:p>
          <a:p>
            <a:r>
              <a:rPr lang="zh-CN" altLang="en-US" dirty="0" smtClean="0"/>
              <a:t>传统方法里：</a:t>
            </a:r>
            <a:endParaRPr lang="en-US" altLang="zh-CN" dirty="0" smtClean="0"/>
          </a:p>
          <a:p>
            <a:r>
              <a:rPr lang="en-US" altLang="zh-CN" dirty="0" err="1" smtClean="0"/>
              <a:t>UNI</a:t>
            </a:r>
            <a:r>
              <a:rPr lang="zh-CN" altLang="en-US" dirty="0" smtClean="0"/>
              <a:t>（均匀采样）忽略语义相关性。</a:t>
            </a:r>
          </a:p>
          <a:p>
            <a:r>
              <a:rPr lang="en-US" altLang="zh-CN" dirty="0" smtClean="0"/>
              <a:t>TOP</a:t>
            </a:r>
            <a:r>
              <a:rPr lang="zh-CN" altLang="en-US" dirty="0" smtClean="0"/>
              <a:t>（最高</a:t>
            </a:r>
            <a:r>
              <a:rPr lang="zh-CN" altLang="en-US" smtClean="0"/>
              <a:t>相关性）只是选择</a:t>
            </a:r>
            <a:r>
              <a:rPr lang="zh-CN" altLang="en-US" dirty="0" smtClean="0"/>
              <a:t>聚类帧，忽略其他片段中的事件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351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自适应关键帧选择基础目标是：满足两个优化的方向</a:t>
            </a:r>
            <a:endParaRPr lang="en-US" altLang="zh-CN" dirty="0" smtClean="0"/>
          </a:p>
          <a:p>
            <a:r>
              <a:rPr lang="zh-CN" altLang="en-US" dirty="0" smtClean="0"/>
              <a:t>相关性：与用户的文本提示保持一致。</a:t>
            </a:r>
          </a:p>
          <a:p>
            <a:r>
              <a:rPr lang="zh-CN" altLang="en-US" dirty="0" smtClean="0"/>
              <a:t>覆盖率：时间分布覆盖合理。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122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将优化问题重新表述为</a:t>
            </a:r>
            <a:r>
              <a:rPr lang="en-US" altLang="zh-CN" dirty="0" smtClean="0"/>
              <a:t>:</a:t>
            </a:r>
          </a:p>
          <a:p>
            <a:r>
              <a:rPr lang="en-US" altLang="zh-CN" dirty="0" err="1" smtClean="0"/>
              <a:t>1.Prompts</a:t>
            </a:r>
            <a:r>
              <a:rPr lang="zh-CN" altLang="en-US" dirty="0" smtClean="0"/>
              <a:t>（</a:t>
            </a:r>
            <a:r>
              <a:rPr lang="en-US" altLang="zh-CN" dirty="0" smtClean="0"/>
              <a:t>Question,</a:t>
            </a:r>
            <a:r>
              <a:rPr lang="en-US" altLang="zh-CN" baseline="0" dirty="0" smtClean="0"/>
              <a:t> Q</a:t>
            </a:r>
            <a:r>
              <a:rPr lang="zh-CN" altLang="en-US" dirty="0" smtClean="0"/>
              <a:t>）</a:t>
            </a:r>
            <a:r>
              <a:rPr lang="en-US" altLang="zh-CN" dirty="0" smtClean="0"/>
              <a:t>+Video (Frames, Ft)   </a:t>
            </a:r>
            <a:r>
              <a:rPr lang="zh-CN" altLang="en-US" b="1" dirty="0" smtClean="0"/>
              <a:t>提示词和视频的相关性得分</a:t>
            </a:r>
            <a:endParaRPr lang="en-US" altLang="zh-CN" b="1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实现提取视频尽量流畅，递归分箱实现时间覆盖   </a:t>
            </a:r>
            <a:r>
              <a:rPr lang="zh-CN" altLang="en-US" b="1" dirty="0" smtClean="0"/>
              <a:t>以及覆盖率 </a:t>
            </a:r>
            <a:r>
              <a:rPr lang="en-US" altLang="zh-CN" dirty="0" smtClean="0"/>
              <a:t>c(</a:t>
            </a:r>
            <a:r>
              <a:rPr lang="en-US" altLang="zh-CN" dirty="0" err="1" smtClean="0"/>
              <a:t>I:multiple</a:t>
            </a:r>
            <a:r>
              <a:rPr lang="en-US" altLang="zh-CN" dirty="0" smtClean="0"/>
              <a:t> frames)</a:t>
            </a:r>
          </a:p>
          <a:p>
            <a:r>
              <a:rPr lang="zh-CN" altLang="en-US" b="1" dirty="0" smtClean="0"/>
              <a:t>结合这两个指标来选择关键帧使得这两个评分最大化</a:t>
            </a:r>
            <a:endParaRPr lang="en-US" altLang="zh-CN" b="1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145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递归分治策略 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自适应平衡</a:t>
            </a:r>
            <a:endParaRPr lang="en-US" altLang="zh-C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涉及到递归和分治思想，把问题分解成多个子问题。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计算分数列表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的均值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μ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和标准差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σ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。使用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top-k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算法选前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大的元素加入集合，根据深度不断迭代。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这个是涉及到贪心策略，整体架构是递归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这个分数的计算通过超参数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Sthr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​ 控制相关性（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λ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）和覆盖范围（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λ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→∞）之间的平衡。</a:t>
            </a:r>
            <a:endParaRPr lang="zh-CN" altLang="en-US" dirty="0" smtClean="0"/>
          </a:p>
          <a:p>
            <a:pPr fontAlgn="base"/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###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细节 不用说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 fontAlgn="base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如果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Tk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​ 的均值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μ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大于 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​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且标准差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σ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大于 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​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，则将当前帧集合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添加到选择列表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中。</a:t>
            </a:r>
          </a:p>
          <a:p>
            <a:pPr fontAlgn="base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否则，如果当前深度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小于最大深度 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 且 ∣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∣ 大于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Times New Roman" panose="02020603050405020304" pitchFamily="18" charset="0"/>
              </a:rPr>
              <a:t>，则将当前帧集合分割成两个子集合，并递归地处理这两个子集合。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109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我们相对于原来算法的改动：</a:t>
            </a:r>
            <a:endParaRPr lang="en-US" altLang="zh-CN" dirty="0" smtClean="0"/>
          </a:p>
          <a:p>
            <a:r>
              <a:rPr lang="zh-CN" altLang="en-US" dirty="0" smtClean="0"/>
              <a:t>原算法在最坏情况下，递归地将得分列表拆分为</a:t>
            </a:r>
            <a:r>
              <a:rPr lang="en-US" altLang="zh-CN" dirty="0" smtClean="0"/>
              <a:t>d</a:t>
            </a:r>
            <a:r>
              <a:rPr lang="zh-CN" altLang="en-US" dirty="0" smtClean="0"/>
              <a:t>层，并</a:t>
            </a:r>
            <a:r>
              <a:rPr lang="zh-CN" altLang="en-US" b="1" dirty="0" smtClean="0"/>
              <a:t>重复排序</a:t>
            </a:r>
            <a:r>
              <a:rPr lang="zh-CN" altLang="en-US" dirty="0" smtClean="0"/>
              <a:t>；会导致时间复杂度达到</a:t>
            </a:r>
            <a:r>
              <a:rPr lang="en-US" altLang="zh-CN" dirty="0" smtClean="0"/>
              <a:t>O (d*n *</a:t>
            </a:r>
            <a:r>
              <a:rPr lang="en-US" altLang="zh-CN" dirty="0" err="1" smtClean="0"/>
              <a:t>logn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改进算法使用进行部分 </a:t>
            </a:r>
            <a:r>
              <a:rPr lang="en-US" altLang="zh-CN" dirty="0" smtClean="0"/>
              <a:t>top-k </a:t>
            </a:r>
            <a:r>
              <a:rPr lang="zh-CN" altLang="en-US" dirty="0" smtClean="0"/>
              <a:t>检索，在平衡情况下，每段成本 </a:t>
            </a:r>
            <a:r>
              <a:rPr lang="en-US" altLang="zh-CN" dirty="0" smtClean="0"/>
              <a:t>O(n), </a:t>
            </a:r>
            <a:r>
              <a:rPr lang="zh-CN" altLang="en-US" dirty="0" smtClean="0"/>
              <a:t>将每个片段的选择成本从 </a:t>
            </a:r>
            <a:r>
              <a:rPr lang="en-US" altLang="zh-CN" dirty="0" smtClean="0"/>
              <a:t>O(k log n) </a:t>
            </a:r>
            <a:r>
              <a:rPr lang="zh-CN" altLang="en-US" dirty="0" smtClean="0"/>
              <a:t>降低到 </a:t>
            </a:r>
            <a:r>
              <a:rPr lang="en-US" altLang="zh-CN" dirty="0" smtClean="0"/>
              <a:t>O(n)</a:t>
            </a:r>
          </a:p>
          <a:p>
            <a:r>
              <a:rPr lang="zh-CN" altLang="en-US" dirty="0" smtClean="0"/>
              <a:t>这样可以适应更长的视频：我们的算法最好情况下</a:t>
            </a:r>
            <a:r>
              <a:rPr lang="en-US" altLang="zh-CN" dirty="0" smtClean="0"/>
              <a:t>O(n), </a:t>
            </a:r>
            <a:r>
              <a:rPr lang="zh-CN" altLang="en-US" dirty="0" smtClean="0"/>
              <a:t>最坏情况下</a:t>
            </a:r>
            <a:r>
              <a:rPr lang="en-US" altLang="zh-CN" dirty="0" smtClean="0"/>
              <a:t>O(n </a:t>
            </a:r>
            <a:r>
              <a:rPr lang="en-US" altLang="zh-CN" dirty="0" err="1" smtClean="0"/>
              <a:t>logd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05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根据我们的设置，我们实现了一个</a:t>
            </a:r>
            <a:r>
              <a:rPr lang="en-US" altLang="zh-CN" dirty="0" smtClean="0"/>
              <a:t>pipeline</a:t>
            </a:r>
            <a:r>
              <a:rPr lang="zh-CN" altLang="en-US" dirty="0" smtClean="0"/>
              <a:t>用于实现自动生成</a:t>
            </a:r>
            <a:r>
              <a:rPr lang="en-US" altLang="zh-CN" dirty="0" smtClean="0"/>
              <a:t>QAs+</a:t>
            </a:r>
            <a:r>
              <a:rPr lang="zh-CN" altLang="en-US" dirty="0" smtClean="0"/>
              <a:t>混合视频，</a:t>
            </a:r>
            <a:endParaRPr lang="en-US" altLang="zh-CN" dirty="0" smtClean="0"/>
          </a:p>
          <a:p>
            <a:r>
              <a:rPr lang="zh-CN" altLang="en-US" dirty="0" smtClean="0"/>
              <a:t>元数据来源于长视频数据集和一个暴力行为的视频数据集</a:t>
            </a:r>
            <a:endParaRPr lang="en-US" altLang="zh-CN" dirty="0" smtClean="0"/>
          </a:p>
          <a:p>
            <a:r>
              <a:rPr lang="zh-CN" altLang="en-US" dirty="0" smtClean="0"/>
              <a:t>分为两类混合视频：恶性视频分别出现在</a:t>
            </a:r>
            <a:r>
              <a:rPr lang="en-US" altLang="zh-CN" dirty="0" smtClean="0"/>
              <a:t>50%</a:t>
            </a:r>
            <a:r>
              <a:rPr lang="zh-CN" altLang="en-US" dirty="0" smtClean="0"/>
              <a:t>和</a:t>
            </a:r>
            <a:r>
              <a:rPr lang="en-US" altLang="zh-CN" dirty="0" smtClean="0"/>
              <a:t>75%</a:t>
            </a:r>
            <a:r>
              <a:rPr lang="zh-CN" altLang="en-US" dirty="0" smtClean="0"/>
              <a:t>的位置，</a:t>
            </a:r>
            <a:endParaRPr lang="en-US" altLang="zh-CN" dirty="0" smtClean="0"/>
          </a:p>
          <a:p>
            <a:r>
              <a:rPr lang="zh-CN" altLang="en-US" dirty="0" smtClean="0"/>
              <a:t>我们合成了</a:t>
            </a:r>
            <a:r>
              <a:rPr lang="en-US" altLang="zh-CN" dirty="0" smtClean="0"/>
              <a:t>120</a:t>
            </a:r>
            <a:r>
              <a:rPr lang="zh-CN" altLang="en-US" dirty="0" smtClean="0"/>
              <a:t>个混合视频和</a:t>
            </a:r>
            <a:r>
              <a:rPr lang="en-US" altLang="zh-CN" dirty="0" smtClean="0"/>
              <a:t>480</a:t>
            </a:r>
            <a:r>
              <a:rPr lang="zh-CN" altLang="en-US" dirty="0" smtClean="0"/>
              <a:t>个</a:t>
            </a:r>
            <a:r>
              <a:rPr lang="en-US" altLang="zh-CN" dirty="0" err="1" smtClean="0"/>
              <a:t>Qas</a:t>
            </a:r>
            <a:r>
              <a:rPr lang="zh-CN" altLang="en-US" dirty="0" smtClean="0"/>
              <a:t>用于测试任务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64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我们定义了两种测试的标准</a:t>
            </a:r>
            <a:endParaRPr lang="en-US" altLang="zh-CN" dirty="0" smtClean="0"/>
          </a:p>
          <a:p>
            <a:r>
              <a:rPr lang="zh-CN" altLang="en-US" dirty="0" smtClean="0"/>
              <a:t>一种用于定义关键帧本身的质量；</a:t>
            </a:r>
            <a:endParaRPr lang="en-US" altLang="zh-CN" dirty="0" smtClean="0"/>
          </a:p>
          <a:p>
            <a:r>
              <a:rPr lang="zh-CN" altLang="en-US" dirty="0" smtClean="0"/>
              <a:t>一种用于衡量测试任务的质量；</a:t>
            </a:r>
            <a:endParaRPr lang="en-US" altLang="zh-CN" dirty="0" smtClean="0"/>
          </a:p>
          <a:p>
            <a:r>
              <a:rPr lang="zh-CN" altLang="en-US" dirty="0" smtClean="0"/>
              <a:t>可以看到我们的方法相对于</a:t>
            </a:r>
            <a:r>
              <a:rPr lang="en-US" altLang="zh-CN" dirty="0" err="1" smtClean="0"/>
              <a:t>sevila</a:t>
            </a:r>
            <a:r>
              <a:rPr lang="zh-CN" altLang="en-US" dirty="0" smtClean="0"/>
              <a:t>的方法提取的帧质量水平比较高，和</a:t>
            </a:r>
            <a:r>
              <a:rPr lang="en-US" altLang="zh-CN" dirty="0" err="1" smtClean="0"/>
              <a:t>AKS</a:t>
            </a:r>
            <a:r>
              <a:rPr lang="zh-CN" altLang="en-US" dirty="0" smtClean="0"/>
              <a:t>基本保持一致，除了内容不一致</a:t>
            </a:r>
            <a:endParaRPr lang="en-US" altLang="zh-CN" dirty="0" smtClean="0"/>
          </a:p>
          <a:p>
            <a:r>
              <a:rPr lang="zh-CN" altLang="en-US" dirty="0" smtClean="0"/>
              <a:t>在具体任务表现上，我们的方法相对于</a:t>
            </a:r>
            <a:r>
              <a:rPr lang="en-US" altLang="zh-CN" dirty="0" err="1" smtClean="0"/>
              <a:t>AKS</a:t>
            </a:r>
            <a:r>
              <a:rPr lang="zh-CN" altLang="en-US" dirty="0" smtClean="0"/>
              <a:t>原始方法，总体正确率提升，真阳性率提升，假阳性率下降。</a:t>
            </a:r>
            <a:endParaRPr lang="en-US" altLang="zh-CN" dirty="0" smtClean="0"/>
          </a:p>
          <a:p>
            <a:r>
              <a:rPr lang="zh-CN" altLang="en-US" dirty="0" smtClean="0"/>
              <a:t>在复杂混合视频的环境下表现良好。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8642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参考文献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147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谢谢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51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931" y="3066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16868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100000">
              <a:srgbClr val="7F0020"/>
            </a:gs>
            <a:gs pos="0">
              <a:srgbClr val="D74034"/>
            </a:gs>
            <a:gs pos="3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0992"/>
            <a:ext cx="10515600" cy="1296015"/>
          </a:xfrm>
        </p:spPr>
        <p:txBody>
          <a:bodyPr anchor="b">
            <a:noAutofit/>
          </a:bodyPr>
          <a:lstStyle>
            <a:lvl1pPr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313"/>
          <a:stretch>
            <a:fillRect/>
          </a:stretch>
        </p:blipFill>
        <p:spPr>
          <a:xfrm>
            <a:off x="0" y="5069225"/>
            <a:ext cx="12192000" cy="1798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182508"/>
            <a:ext cx="2772075" cy="762828"/>
          </a:xfrm>
          <a:prstGeom prst="rect">
            <a:avLst/>
          </a:prstGeom>
        </p:spPr>
      </p:pic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 + 校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026812" y="325447"/>
            <a:ext cx="2810614" cy="752510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63600" y="1579654"/>
            <a:ext cx="10309225" cy="46466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549169" y="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信息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accent1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7" name="等腰三角形 2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78543" y="0"/>
            <a:ext cx="10515600" cy="1310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质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2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7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zh-CN" altLang="en-US" sz="3200" b="1" kern="1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生命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3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32" name="等腰三角形 3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管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4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890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艺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5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科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2" y="182507"/>
            <a:ext cx="8216283" cy="759735"/>
          </a:xfrm>
          <a:solidFill>
            <a:srgbClr val="014099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8D4B51F-5022-4B9A-B1DC-58E2D82F8E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72526" y="2132985"/>
            <a:ext cx="10952193" cy="1296015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Adaptive Keyframe Sampling for Mixed Video Understanding</a:t>
            </a:r>
            <a:endParaRPr lang="zh-CN" altLang="en-US" sz="4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7" name="康帅11"/>
          <p:cNvGrpSpPr/>
          <p:nvPr/>
        </p:nvGrpSpPr>
        <p:grpSpPr>
          <a:xfrm>
            <a:off x="674370" y="4708024"/>
            <a:ext cx="7969250" cy="452120"/>
            <a:chOff x="558694" y="4361314"/>
            <a:chExt cx="7969250" cy="452120"/>
          </a:xfrm>
          <a:solidFill>
            <a:srgbClr val="9A0000"/>
          </a:solidFill>
        </p:grpSpPr>
        <p:sp>
          <p:nvSpPr>
            <p:cNvPr id="118" name="康帅11-1"/>
            <p:cNvSpPr/>
            <p:nvPr/>
          </p:nvSpPr>
          <p:spPr>
            <a:xfrm>
              <a:off x="804439" y="4361314"/>
              <a:ext cx="7723505" cy="452120"/>
            </a:xfrm>
            <a:prstGeom prst="rect">
              <a:avLst/>
            </a:prstGeom>
            <a:grpFill/>
            <a:effectLst/>
          </p:spPr>
          <p:txBody>
            <a:bodyPr wrap="square" lIns="97841" tIns="48920" rIns="97841" bIns="48920">
              <a:noAutofit/>
            </a:bodyPr>
            <a:lstStyle/>
            <a:p>
              <a:pPr lvl="0" algn="l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Date: 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June </a:t>
              </a:r>
              <a:r>
                <a:rPr lang="en-US" altLang="zh-CN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5th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康帅11-2"/>
            <p:cNvSpPr/>
            <p:nvPr/>
          </p:nvSpPr>
          <p:spPr>
            <a:xfrm>
              <a:off x="558694" y="4407669"/>
              <a:ext cx="303609" cy="303609"/>
            </a:xfrm>
            <a:prstGeom prst="ellipse">
              <a:avLst/>
            </a:prstGeom>
            <a:solidFill>
              <a:schemeClr val="bg1"/>
            </a:solidFill>
            <a:ln w="13589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841" tIns="48920" rIns="97841" bIns="489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925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pSp>
          <p:nvGrpSpPr>
            <p:cNvPr id="120" name="Group 4"/>
            <p:cNvGrpSpPr>
              <a:grpSpLocks noChangeAspect="1"/>
            </p:cNvGrpSpPr>
            <p:nvPr/>
          </p:nvGrpSpPr>
          <p:grpSpPr bwMode="auto">
            <a:xfrm>
              <a:off x="623037" y="4482995"/>
              <a:ext cx="181639" cy="178077"/>
              <a:chOff x="1904" y="1224"/>
              <a:chExt cx="815" cy="799"/>
            </a:xfrm>
            <a:grpFill/>
          </p:grpSpPr>
          <p:sp>
            <p:nvSpPr>
              <p:cNvPr id="121" name="康帅11-4"/>
              <p:cNvSpPr/>
              <p:nvPr/>
            </p:nvSpPr>
            <p:spPr bwMode="auto">
              <a:xfrm>
                <a:off x="2263" y="1229"/>
                <a:ext cx="456" cy="471"/>
              </a:xfrm>
              <a:custGeom>
                <a:avLst/>
                <a:gdLst>
                  <a:gd name="T0" fmla="*/ 297 w 349"/>
                  <a:gd name="T1" fmla="*/ 0 h 362"/>
                  <a:gd name="T2" fmla="*/ 19 w 349"/>
                  <a:gd name="T3" fmla="*/ 0 h 362"/>
                  <a:gd name="T4" fmla="*/ 0 w 349"/>
                  <a:gd name="T5" fmla="*/ 20 h 362"/>
                  <a:gd name="T6" fmla="*/ 19 w 349"/>
                  <a:gd name="T7" fmla="*/ 39 h 362"/>
                  <a:gd name="T8" fmla="*/ 297 w 349"/>
                  <a:gd name="T9" fmla="*/ 39 h 362"/>
                  <a:gd name="T10" fmla="*/ 310 w 349"/>
                  <a:gd name="T11" fmla="*/ 52 h 362"/>
                  <a:gd name="T12" fmla="*/ 310 w 349"/>
                  <a:gd name="T13" fmla="*/ 310 h 362"/>
                  <a:gd name="T14" fmla="*/ 297 w 349"/>
                  <a:gd name="T15" fmla="*/ 322 h 362"/>
                  <a:gd name="T16" fmla="*/ 19 w 349"/>
                  <a:gd name="T17" fmla="*/ 322 h 362"/>
                  <a:gd name="T18" fmla="*/ 0 w 349"/>
                  <a:gd name="T19" fmla="*/ 342 h 362"/>
                  <a:gd name="T20" fmla="*/ 19 w 349"/>
                  <a:gd name="T21" fmla="*/ 362 h 362"/>
                  <a:gd name="T22" fmla="*/ 297 w 349"/>
                  <a:gd name="T23" fmla="*/ 362 h 362"/>
                  <a:gd name="T24" fmla="*/ 349 w 349"/>
                  <a:gd name="T25" fmla="*/ 310 h 362"/>
                  <a:gd name="T26" fmla="*/ 349 w 349"/>
                  <a:gd name="T27" fmla="*/ 52 h 362"/>
                  <a:gd name="T28" fmla="*/ 297 w 349"/>
                  <a:gd name="T29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49" h="362">
                    <a:moveTo>
                      <a:pt x="297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39"/>
                      <a:pt x="19" y="39"/>
                    </a:cubicBezTo>
                    <a:cubicBezTo>
                      <a:pt x="297" y="39"/>
                      <a:pt x="297" y="39"/>
                      <a:pt x="297" y="39"/>
                    </a:cubicBezTo>
                    <a:cubicBezTo>
                      <a:pt x="304" y="39"/>
                      <a:pt x="310" y="45"/>
                      <a:pt x="310" y="52"/>
                    </a:cubicBezTo>
                    <a:cubicBezTo>
                      <a:pt x="310" y="310"/>
                      <a:pt x="310" y="310"/>
                      <a:pt x="310" y="310"/>
                    </a:cubicBezTo>
                    <a:cubicBezTo>
                      <a:pt x="310" y="317"/>
                      <a:pt x="304" y="322"/>
                      <a:pt x="297" y="322"/>
                    </a:cubicBezTo>
                    <a:cubicBezTo>
                      <a:pt x="19" y="322"/>
                      <a:pt x="19" y="322"/>
                      <a:pt x="19" y="322"/>
                    </a:cubicBezTo>
                    <a:cubicBezTo>
                      <a:pt x="9" y="322"/>
                      <a:pt x="0" y="331"/>
                      <a:pt x="0" y="342"/>
                    </a:cubicBezTo>
                    <a:cubicBezTo>
                      <a:pt x="0" y="353"/>
                      <a:pt x="9" y="362"/>
                      <a:pt x="19" y="362"/>
                    </a:cubicBezTo>
                    <a:cubicBezTo>
                      <a:pt x="297" y="362"/>
                      <a:pt x="297" y="362"/>
                      <a:pt x="297" y="362"/>
                    </a:cubicBezTo>
                    <a:cubicBezTo>
                      <a:pt x="326" y="362"/>
                      <a:pt x="349" y="338"/>
                      <a:pt x="349" y="310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9" y="24"/>
                      <a:pt x="326" y="0"/>
                      <a:pt x="29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  <a:effectLst/>
            </p:spPr>
            <p:txBody>
              <a:bodyPr vert="horz" wrap="square" lIns="97841" tIns="48920" rIns="97841" bIns="48920" numCol="1" anchor="t" anchorCtr="0" compatLnSpc="1"/>
              <a:lstStyle/>
              <a:p>
                <a:endParaRPr lang="zh-CN" altLang="en-US" sz="1925">
                  <a:solidFill>
                    <a:schemeClr val="bg1"/>
                  </a:solidFill>
                  <a:latin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康帅11-5"/>
              <p:cNvSpPr>
                <a:spLocks noEditPoints="1"/>
              </p:cNvSpPr>
              <p:nvPr/>
            </p:nvSpPr>
            <p:spPr bwMode="auto">
              <a:xfrm>
                <a:off x="1904" y="1224"/>
                <a:ext cx="720" cy="799"/>
              </a:xfrm>
              <a:custGeom>
                <a:avLst/>
                <a:gdLst>
                  <a:gd name="T0" fmla="*/ 423 w 551"/>
                  <a:gd name="T1" fmla="*/ 309 h 614"/>
                  <a:gd name="T2" fmla="*/ 456 w 551"/>
                  <a:gd name="T3" fmla="*/ 222 h 614"/>
                  <a:gd name="T4" fmla="*/ 507 w 551"/>
                  <a:gd name="T5" fmla="*/ 256 h 614"/>
                  <a:gd name="T6" fmla="*/ 549 w 551"/>
                  <a:gd name="T7" fmla="*/ 93 h 614"/>
                  <a:gd name="T8" fmla="*/ 510 w 551"/>
                  <a:gd name="T9" fmla="*/ 86 h 614"/>
                  <a:gd name="T10" fmla="*/ 459 w 551"/>
                  <a:gd name="T11" fmla="*/ 171 h 614"/>
                  <a:gd name="T12" fmla="*/ 427 w 551"/>
                  <a:gd name="T13" fmla="*/ 180 h 614"/>
                  <a:gd name="T14" fmla="*/ 399 w 551"/>
                  <a:gd name="T15" fmla="*/ 237 h 614"/>
                  <a:gd name="T16" fmla="*/ 369 w 551"/>
                  <a:gd name="T17" fmla="*/ 263 h 614"/>
                  <a:gd name="T18" fmla="*/ 419 w 551"/>
                  <a:gd name="T19" fmla="*/ 310 h 614"/>
                  <a:gd name="T20" fmla="*/ 218 w 551"/>
                  <a:gd name="T21" fmla="*/ 85 h 614"/>
                  <a:gd name="T22" fmla="*/ 48 w 551"/>
                  <a:gd name="T23" fmla="*/ 85 h 614"/>
                  <a:gd name="T24" fmla="*/ 133 w 551"/>
                  <a:gd name="T25" fmla="*/ 39 h 614"/>
                  <a:gd name="T26" fmla="*/ 133 w 551"/>
                  <a:gd name="T27" fmla="*/ 132 h 614"/>
                  <a:gd name="T28" fmla="*/ 133 w 551"/>
                  <a:gd name="T29" fmla="*/ 39 h 614"/>
                  <a:gd name="T30" fmla="*/ 296 w 551"/>
                  <a:gd name="T31" fmla="*/ 183 h 614"/>
                  <a:gd name="T32" fmla="*/ 12 w 551"/>
                  <a:gd name="T33" fmla="*/ 196 h 614"/>
                  <a:gd name="T34" fmla="*/ 6 w 551"/>
                  <a:gd name="T35" fmla="*/ 381 h 614"/>
                  <a:gd name="T36" fmla="*/ 47 w 551"/>
                  <a:gd name="T37" fmla="*/ 430 h 614"/>
                  <a:gd name="T38" fmla="*/ 60 w 551"/>
                  <a:gd name="T39" fmla="*/ 562 h 614"/>
                  <a:gd name="T40" fmla="*/ 117 w 551"/>
                  <a:gd name="T41" fmla="*/ 614 h 614"/>
                  <a:gd name="T42" fmla="*/ 206 w 551"/>
                  <a:gd name="T43" fmla="*/ 562 h 614"/>
                  <a:gd name="T44" fmla="*/ 235 w 551"/>
                  <a:gd name="T45" fmla="*/ 298 h 614"/>
                  <a:gd name="T46" fmla="*/ 343 w 551"/>
                  <a:gd name="T47" fmla="*/ 230 h 614"/>
                  <a:gd name="T48" fmla="*/ 224 w 551"/>
                  <a:gd name="T49" fmla="*/ 261 h 614"/>
                  <a:gd name="T50" fmla="*/ 167 w 551"/>
                  <a:gd name="T51" fmla="*/ 559 h 614"/>
                  <a:gd name="T52" fmla="*/ 117 w 551"/>
                  <a:gd name="T53" fmla="*/ 575 h 614"/>
                  <a:gd name="T54" fmla="*/ 88 w 551"/>
                  <a:gd name="T55" fmla="*/ 429 h 614"/>
                  <a:gd name="T56" fmla="*/ 46 w 551"/>
                  <a:gd name="T57" fmla="*/ 382 h 614"/>
                  <a:gd name="T58" fmla="*/ 40 w 551"/>
                  <a:gd name="T59" fmla="*/ 226 h 614"/>
                  <a:gd name="T60" fmla="*/ 43 w 551"/>
                  <a:gd name="T61" fmla="*/ 222 h 614"/>
                  <a:gd name="T62" fmla="*/ 304 w 551"/>
                  <a:gd name="T63" fmla="*/ 230 h 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1" h="614">
                    <a:moveTo>
                      <a:pt x="419" y="310"/>
                    </a:moveTo>
                    <a:cubicBezTo>
                      <a:pt x="420" y="310"/>
                      <a:pt x="422" y="310"/>
                      <a:pt x="423" y="309"/>
                    </a:cubicBezTo>
                    <a:cubicBezTo>
                      <a:pt x="430" y="308"/>
                      <a:pt x="436" y="302"/>
                      <a:pt x="438" y="295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88" y="252"/>
                      <a:pt x="488" y="252"/>
                      <a:pt x="488" y="252"/>
                    </a:cubicBezTo>
                    <a:cubicBezTo>
                      <a:pt x="493" y="257"/>
                      <a:pt x="501" y="258"/>
                      <a:pt x="507" y="256"/>
                    </a:cubicBezTo>
                    <a:cubicBezTo>
                      <a:pt x="514" y="254"/>
                      <a:pt x="519" y="248"/>
                      <a:pt x="521" y="241"/>
                    </a:cubicBezTo>
                    <a:cubicBezTo>
                      <a:pt x="549" y="93"/>
                      <a:pt x="549" y="93"/>
                      <a:pt x="549" y="93"/>
                    </a:cubicBezTo>
                    <a:cubicBezTo>
                      <a:pt x="551" y="82"/>
                      <a:pt x="544" y="72"/>
                      <a:pt x="533" y="70"/>
                    </a:cubicBezTo>
                    <a:cubicBezTo>
                      <a:pt x="523" y="68"/>
                      <a:pt x="512" y="75"/>
                      <a:pt x="510" y="86"/>
                    </a:cubicBezTo>
                    <a:cubicBezTo>
                      <a:pt x="489" y="199"/>
                      <a:pt x="489" y="199"/>
                      <a:pt x="489" y="199"/>
                    </a:cubicBezTo>
                    <a:cubicBezTo>
                      <a:pt x="459" y="171"/>
                      <a:pt x="459" y="171"/>
                      <a:pt x="459" y="171"/>
                    </a:cubicBezTo>
                    <a:cubicBezTo>
                      <a:pt x="454" y="166"/>
                      <a:pt x="447" y="164"/>
                      <a:pt x="441" y="166"/>
                    </a:cubicBezTo>
                    <a:cubicBezTo>
                      <a:pt x="434" y="168"/>
                      <a:pt x="429" y="173"/>
                      <a:pt x="427" y="180"/>
                    </a:cubicBezTo>
                    <a:cubicBezTo>
                      <a:pt x="409" y="249"/>
                      <a:pt x="409" y="249"/>
                      <a:pt x="409" y="249"/>
                    </a:cubicBezTo>
                    <a:cubicBezTo>
                      <a:pt x="399" y="237"/>
                      <a:pt x="399" y="237"/>
                      <a:pt x="399" y="237"/>
                    </a:cubicBezTo>
                    <a:cubicBezTo>
                      <a:pt x="392" y="229"/>
                      <a:pt x="379" y="228"/>
                      <a:pt x="371" y="235"/>
                    </a:cubicBezTo>
                    <a:cubicBezTo>
                      <a:pt x="363" y="242"/>
                      <a:pt x="362" y="254"/>
                      <a:pt x="369" y="263"/>
                    </a:cubicBezTo>
                    <a:cubicBezTo>
                      <a:pt x="404" y="303"/>
                      <a:pt x="404" y="303"/>
                      <a:pt x="404" y="303"/>
                    </a:cubicBezTo>
                    <a:cubicBezTo>
                      <a:pt x="408" y="307"/>
                      <a:pt x="413" y="310"/>
                      <a:pt x="419" y="310"/>
                    </a:cubicBezTo>
                    <a:close/>
                    <a:moveTo>
                      <a:pt x="133" y="171"/>
                    </a:moveTo>
                    <a:cubicBezTo>
                      <a:pt x="180" y="171"/>
                      <a:pt x="218" y="132"/>
                      <a:pt x="218" y="85"/>
                    </a:cubicBezTo>
                    <a:cubicBezTo>
                      <a:pt x="218" y="38"/>
                      <a:pt x="180" y="0"/>
                      <a:pt x="133" y="0"/>
                    </a:cubicBezTo>
                    <a:cubicBezTo>
                      <a:pt x="86" y="0"/>
                      <a:pt x="48" y="38"/>
                      <a:pt x="48" y="85"/>
                    </a:cubicBezTo>
                    <a:cubicBezTo>
                      <a:pt x="48" y="132"/>
                      <a:pt x="86" y="171"/>
                      <a:pt x="133" y="171"/>
                    </a:cubicBezTo>
                    <a:close/>
                    <a:moveTo>
                      <a:pt x="133" y="39"/>
                    </a:moveTo>
                    <a:cubicBezTo>
                      <a:pt x="158" y="39"/>
                      <a:pt x="179" y="60"/>
                      <a:pt x="179" y="85"/>
                    </a:cubicBezTo>
                    <a:cubicBezTo>
                      <a:pt x="179" y="111"/>
                      <a:pt x="159" y="132"/>
                      <a:pt x="133" y="132"/>
                    </a:cubicBezTo>
                    <a:cubicBezTo>
                      <a:pt x="107" y="132"/>
                      <a:pt x="87" y="111"/>
                      <a:pt x="87" y="85"/>
                    </a:cubicBezTo>
                    <a:cubicBezTo>
                      <a:pt x="87" y="60"/>
                      <a:pt x="108" y="39"/>
                      <a:pt x="133" y="39"/>
                    </a:cubicBezTo>
                    <a:close/>
                    <a:moveTo>
                      <a:pt x="343" y="230"/>
                    </a:moveTo>
                    <a:cubicBezTo>
                      <a:pt x="343" y="204"/>
                      <a:pt x="322" y="183"/>
                      <a:pt x="296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31" y="183"/>
                      <a:pt x="21" y="188"/>
                      <a:pt x="12" y="196"/>
                    </a:cubicBezTo>
                    <a:cubicBezTo>
                      <a:pt x="4" y="204"/>
                      <a:pt x="0" y="215"/>
                      <a:pt x="1" y="227"/>
                    </a:cubicBezTo>
                    <a:cubicBezTo>
                      <a:pt x="6" y="381"/>
                      <a:pt x="6" y="381"/>
                      <a:pt x="6" y="381"/>
                    </a:cubicBezTo>
                    <a:cubicBezTo>
                      <a:pt x="7" y="394"/>
                      <a:pt x="13" y="407"/>
                      <a:pt x="24" y="414"/>
                    </a:cubicBezTo>
                    <a:cubicBezTo>
                      <a:pt x="47" y="430"/>
                      <a:pt x="47" y="430"/>
                      <a:pt x="47" y="430"/>
                    </a:cubicBezTo>
                    <a:cubicBezTo>
                      <a:pt x="48" y="430"/>
                      <a:pt x="49" y="431"/>
                      <a:pt x="49" y="432"/>
                    </a:cubicBezTo>
                    <a:cubicBezTo>
                      <a:pt x="60" y="562"/>
                      <a:pt x="60" y="562"/>
                      <a:pt x="60" y="562"/>
                    </a:cubicBezTo>
                    <a:cubicBezTo>
                      <a:pt x="61" y="576"/>
                      <a:pt x="68" y="589"/>
                      <a:pt x="78" y="599"/>
                    </a:cubicBezTo>
                    <a:cubicBezTo>
                      <a:pt x="89" y="609"/>
                      <a:pt x="103" y="614"/>
                      <a:pt x="117" y="614"/>
                    </a:cubicBezTo>
                    <a:cubicBezTo>
                      <a:pt x="149" y="614"/>
                      <a:pt x="149" y="614"/>
                      <a:pt x="149" y="614"/>
                    </a:cubicBezTo>
                    <a:cubicBezTo>
                      <a:pt x="178" y="614"/>
                      <a:pt x="203" y="592"/>
                      <a:pt x="206" y="562"/>
                    </a:cubicBezTo>
                    <a:cubicBezTo>
                      <a:pt x="233" y="301"/>
                      <a:pt x="233" y="301"/>
                      <a:pt x="233" y="301"/>
                    </a:cubicBezTo>
                    <a:cubicBezTo>
                      <a:pt x="233" y="299"/>
                      <a:pt x="234" y="298"/>
                      <a:pt x="235" y="298"/>
                    </a:cubicBezTo>
                    <a:cubicBezTo>
                      <a:pt x="310" y="275"/>
                      <a:pt x="310" y="275"/>
                      <a:pt x="310" y="275"/>
                    </a:cubicBezTo>
                    <a:cubicBezTo>
                      <a:pt x="330" y="269"/>
                      <a:pt x="343" y="251"/>
                      <a:pt x="343" y="230"/>
                    </a:cubicBezTo>
                    <a:close/>
                    <a:moveTo>
                      <a:pt x="299" y="238"/>
                    </a:moveTo>
                    <a:cubicBezTo>
                      <a:pt x="224" y="261"/>
                      <a:pt x="224" y="261"/>
                      <a:pt x="224" y="261"/>
                    </a:cubicBezTo>
                    <a:cubicBezTo>
                      <a:pt x="207" y="266"/>
                      <a:pt x="196" y="280"/>
                      <a:pt x="194" y="297"/>
                    </a:cubicBezTo>
                    <a:cubicBezTo>
                      <a:pt x="167" y="559"/>
                      <a:pt x="167" y="559"/>
                      <a:pt x="167" y="559"/>
                    </a:cubicBezTo>
                    <a:cubicBezTo>
                      <a:pt x="166" y="568"/>
                      <a:pt x="158" y="575"/>
                      <a:pt x="149" y="575"/>
                    </a:cubicBezTo>
                    <a:cubicBezTo>
                      <a:pt x="117" y="575"/>
                      <a:pt x="117" y="575"/>
                      <a:pt x="117" y="575"/>
                    </a:cubicBezTo>
                    <a:cubicBezTo>
                      <a:pt x="107" y="575"/>
                      <a:pt x="100" y="568"/>
                      <a:pt x="99" y="558"/>
                    </a:cubicBezTo>
                    <a:cubicBezTo>
                      <a:pt x="88" y="429"/>
                      <a:pt x="88" y="429"/>
                      <a:pt x="88" y="429"/>
                    </a:cubicBezTo>
                    <a:cubicBezTo>
                      <a:pt x="87" y="416"/>
                      <a:pt x="80" y="405"/>
                      <a:pt x="69" y="398"/>
                    </a:cubicBezTo>
                    <a:cubicBezTo>
                      <a:pt x="46" y="382"/>
                      <a:pt x="46" y="382"/>
                      <a:pt x="46" y="382"/>
                    </a:cubicBezTo>
                    <a:cubicBezTo>
                      <a:pt x="46" y="382"/>
                      <a:pt x="45" y="381"/>
                      <a:pt x="45" y="380"/>
                    </a:cubicBezTo>
                    <a:cubicBezTo>
                      <a:pt x="40" y="226"/>
                      <a:pt x="40" y="226"/>
                      <a:pt x="40" y="226"/>
                    </a:cubicBezTo>
                    <a:cubicBezTo>
                      <a:pt x="40" y="225"/>
                      <a:pt x="40" y="224"/>
                      <a:pt x="41" y="223"/>
                    </a:cubicBezTo>
                    <a:cubicBezTo>
                      <a:pt x="41" y="223"/>
                      <a:pt x="42" y="222"/>
                      <a:pt x="43" y="222"/>
                    </a:cubicBezTo>
                    <a:cubicBezTo>
                      <a:pt x="296" y="222"/>
                      <a:pt x="296" y="222"/>
                      <a:pt x="296" y="222"/>
                    </a:cubicBezTo>
                    <a:cubicBezTo>
                      <a:pt x="301" y="222"/>
                      <a:pt x="304" y="226"/>
                      <a:pt x="304" y="230"/>
                    </a:cubicBezTo>
                    <a:cubicBezTo>
                      <a:pt x="304" y="234"/>
                      <a:pt x="302" y="237"/>
                      <a:pt x="299" y="238"/>
                    </a:cubicBezTo>
                    <a:close/>
                  </a:path>
                </a:pathLst>
              </a:custGeom>
              <a:solidFill>
                <a:srgbClr val="9A0000"/>
              </a:solidFill>
              <a:ln w="9525">
                <a:noFill/>
                <a:round/>
              </a:ln>
              <a:effectLst/>
            </p:spPr>
            <p:txBody>
              <a:bodyPr vert="horz" wrap="square" lIns="97841" tIns="48920" rIns="97841" bIns="48920" numCol="1" anchor="t" anchorCtr="0" compatLnSpc="1"/>
              <a:lstStyle/>
              <a:p>
                <a:endParaRPr lang="zh-CN" altLang="en-US" sz="1925">
                  <a:solidFill>
                    <a:schemeClr val="bg1"/>
                  </a:solidFill>
                  <a:latin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23" name="康帅11-3"/>
          <p:cNvSpPr/>
          <p:nvPr/>
        </p:nvSpPr>
        <p:spPr>
          <a:xfrm>
            <a:off x="839470" y="4258945"/>
            <a:ext cx="7242175" cy="37465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9A0000"/>
                </a:solidFill>
              </a14:hiddenFill>
            </a:ext>
          </a:extLst>
        </p:spPr>
        <p:txBody>
          <a:bodyPr wrap="square" lIns="97841" tIns="48920" rIns="97841" bIns="4892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Xuanxin Chen, Zhenzhen Xu, Hao Wu, Qinzhou Zhang, Xiaolong Guo</a:t>
            </a:r>
          </a:p>
        </p:txBody>
      </p:sp>
      <p:sp>
        <p:nvSpPr>
          <p:cNvPr id="124" name="康帅11-6"/>
          <p:cNvSpPr/>
          <p:nvPr/>
        </p:nvSpPr>
        <p:spPr>
          <a:xfrm>
            <a:off x="674075" y="4280034"/>
            <a:ext cx="303609" cy="303609"/>
          </a:xfrm>
          <a:prstGeom prst="ellipse">
            <a:avLst/>
          </a:prstGeom>
          <a:solidFill>
            <a:schemeClr val="bg1"/>
          </a:solidFill>
          <a:ln w="13589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7841" tIns="48920" rIns="97841" bIns="489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925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5" name="康帅11-7"/>
          <p:cNvSpPr>
            <a:spLocks noEditPoints="1"/>
          </p:cNvSpPr>
          <p:nvPr/>
        </p:nvSpPr>
        <p:spPr bwMode="auto">
          <a:xfrm>
            <a:off x="745563" y="4324812"/>
            <a:ext cx="160633" cy="186873"/>
          </a:xfrm>
          <a:custGeom>
            <a:avLst/>
            <a:gdLst>
              <a:gd name="T0" fmla="*/ 688 w 701"/>
              <a:gd name="T1" fmla="*/ 820 h 820"/>
              <a:gd name="T2" fmla="*/ 21 w 701"/>
              <a:gd name="T3" fmla="*/ 820 h 820"/>
              <a:gd name="T4" fmla="*/ 0 w 701"/>
              <a:gd name="T5" fmla="*/ 800 h 820"/>
              <a:gd name="T6" fmla="*/ 99 w 701"/>
              <a:gd name="T7" fmla="*/ 512 h 820"/>
              <a:gd name="T8" fmla="*/ 113 w 701"/>
              <a:gd name="T9" fmla="*/ 507 h 820"/>
              <a:gd name="T10" fmla="*/ 204 w 701"/>
              <a:gd name="T11" fmla="*/ 549 h 820"/>
              <a:gd name="T12" fmla="*/ 58 w 701"/>
              <a:gd name="T13" fmla="*/ 665 h 820"/>
              <a:gd name="T14" fmla="*/ 655 w 701"/>
              <a:gd name="T15" fmla="*/ 779 h 820"/>
              <a:gd name="T16" fmla="*/ 573 w 701"/>
              <a:gd name="T17" fmla="*/ 548 h 820"/>
              <a:gd name="T18" fmla="*/ 477 w 701"/>
              <a:gd name="T19" fmla="*/ 507 h 820"/>
              <a:gd name="T20" fmla="*/ 595 w 701"/>
              <a:gd name="T21" fmla="*/ 509 h 820"/>
              <a:gd name="T22" fmla="*/ 696 w 701"/>
              <a:gd name="T23" fmla="*/ 807 h 820"/>
              <a:gd name="T24" fmla="*/ 300 w 701"/>
              <a:gd name="T25" fmla="*/ 711 h 820"/>
              <a:gd name="T26" fmla="*/ 322 w 701"/>
              <a:gd name="T27" fmla="*/ 547 h 820"/>
              <a:gd name="T28" fmla="*/ 381 w 701"/>
              <a:gd name="T29" fmla="*/ 525 h 820"/>
              <a:gd name="T30" fmla="*/ 369 w 701"/>
              <a:gd name="T31" fmla="*/ 569 h 820"/>
              <a:gd name="T32" fmla="*/ 354 w 701"/>
              <a:gd name="T33" fmla="*/ 752 h 820"/>
              <a:gd name="T34" fmla="*/ 454 w 701"/>
              <a:gd name="T35" fmla="*/ 452 h 820"/>
              <a:gd name="T36" fmla="*/ 345 w 701"/>
              <a:gd name="T37" fmla="*/ 508 h 820"/>
              <a:gd name="T38" fmla="*/ 239 w 701"/>
              <a:gd name="T39" fmla="*/ 455 h 820"/>
              <a:gd name="T40" fmla="*/ 149 w 701"/>
              <a:gd name="T41" fmla="*/ 309 h 820"/>
              <a:gd name="T42" fmla="*/ 139 w 701"/>
              <a:gd name="T43" fmla="*/ 236 h 820"/>
              <a:gd name="T44" fmla="*/ 156 w 701"/>
              <a:gd name="T45" fmla="*/ 226 h 820"/>
              <a:gd name="T46" fmla="*/ 353 w 701"/>
              <a:gd name="T47" fmla="*/ 25 h 820"/>
              <a:gd name="T48" fmla="*/ 540 w 701"/>
              <a:gd name="T49" fmla="*/ 231 h 820"/>
              <a:gd name="T50" fmla="*/ 548 w 701"/>
              <a:gd name="T51" fmla="*/ 246 h 820"/>
              <a:gd name="T52" fmla="*/ 512 w 701"/>
              <a:gd name="T53" fmla="*/ 341 h 820"/>
              <a:gd name="T54" fmla="*/ 490 w 701"/>
              <a:gd name="T55" fmla="*/ 256 h 820"/>
              <a:gd name="T56" fmla="*/ 481 w 701"/>
              <a:gd name="T57" fmla="*/ 240 h 820"/>
              <a:gd name="T58" fmla="*/ 424 w 701"/>
              <a:gd name="T59" fmla="*/ 136 h 820"/>
              <a:gd name="T60" fmla="*/ 405 w 701"/>
              <a:gd name="T61" fmla="*/ 158 h 820"/>
              <a:gd name="T62" fmla="*/ 394 w 701"/>
              <a:gd name="T63" fmla="*/ 164 h 820"/>
              <a:gd name="T64" fmla="*/ 393 w 701"/>
              <a:gd name="T65" fmla="*/ 132 h 820"/>
              <a:gd name="T66" fmla="*/ 214 w 701"/>
              <a:gd name="T67" fmla="*/ 162 h 820"/>
              <a:gd name="T68" fmla="*/ 205 w 701"/>
              <a:gd name="T69" fmla="*/ 257 h 820"/>
              <a:gd name="T70" fmla="*/ 202 w 701"/>
              <a:gd name="T71" fmla="*/ 263 h 820"/>
              <a:gd name="T72" fmla="*/ 184 w 701"/>
              <a:gd name="T73" fmla="*/ 295 h 820"/>
              <a:gd name="T74" fmla="*/ 208 w 701"/>
              <a:gd name="T75" fmla="*/ 313 h 820"/>
              <a:gd name="T76" fmla="*/ 266 w 701"/>
              <a:gd name="T77" fmla="*/ 429 h 820"/>
              <a:gd name="T78" fmla="*/ 426 w 701"/>
              <a:gd name="T79" fmla="*/ 426 h 820"/>
              <a:gd name="T80" fmla="*/ 480 w 701"/>
              <a:gd name="T81" fmla="*/ 313 h 820"/>
              <a:gd name="T82" fmla="*/ 504 w 701"/>
              <a:gd name="T83" fmla="*/ 294 h 820"/>
              <a:gd name="T84" fmla="*/ 492 w 701"/>
              <a:gd name="T85" fmla="*/ 265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01" h="820">
                <a:moveTo>
                  <a:pt x="696" y="807"/>
                </a:moveTo>
                <a:cubicBezTo>
                  <a:pt x="688" y="820"/>
                  <a:pt x="688" y="820"/>
                  <a:pt x="688" y="820"/>
                </a:cubicBezTo>
                <a:cubicBezTo>
                  <a:pt x="670" y="820"/>
                  <a:pt x="670" y="820"/>
                  <a:pt x="670" y="820"/>
                </a:cubicBezTo>
                <a:cubicBezTo>
                  <a:pt x="21" y="820"/>
                  <a:pt x="21" y="820"/>
                  <a:pt x="21" y="820"/>
                </a:cubicBezTo>
                <a:cubicBezTo>
                  <a:pt x="0" y="820"/>
                  <a:pt x="0" y="820"/>
                  <a:pt x="0" y="820"/>
                </a:cubicBezTo>
                <a:cubicBezTo>
                  <a:pt x="0" y="800"/>
                  <a:pt x="0" y="800"/>
                  <a:pt x="0" y="800"/>
                </a:cubicBezTo>
                <a:cubicBezTo>
                  <a:pt x="1" y="760"/>
                  <a:pt x="5" y="707"/>
                  <a:pt x="19" y="655"/>
                </a:cubicBezTo>
                <a:cubicBezTo>
                  <a:pt x="33" y="601"/>
                  <a:pt x="57" y="549"/>
                  <a:pt x="99" y="512"/>
                </a:cubicBezTo>
                <a:cubicBezTo>
                  <a:pt x="105" y="507"/>
                  <a:pt x="105" y="507"/>
                  <a:pt x="105" y="507"/>
                </a:cubicBezTo>
                <a:cubicBezTo>
                  <a:pt x="113" y="507"/>
                  <a:pt x="113" y="507"/>
                  <a:pt x="113" y="507"/>
                </a:cubicBezTo>
                <a:cubicBezTo>
                  <a:pt x="204" y="507"/>
                  <a:pt x="204" y="507"/>
                  <a:pt x="204" y="507"/>
                </a:cubicBezTo>
                <a:cubicBezTo>
                  <a:pt x="204" y="549"/>
                  <a:pt x="204" y="549"/>
                  <a:pt x="204" y="549"/>
                </a:cubicBezTo>
                <a:cubicBezTo>
                  <a:pt x="121" y="548"/>
                  <a:pt x="121" y="548"/>
                  <a:pt x="121" y="548"/>
                </a:cubicBezTo>
                <a:cubicBezTo>
                  <a:pt x="89" y="578"/>
                  <a:pt x="70" y="621"/>
                  <a:pt x="58" y="665"/>
                </a:cubicBezTo>
                <a:cubicBezTo>
                  <a:pt x="48" y="705"/>
                  <a:pt x="43" y="746"/>
                  <a:pt x="42" y="780"/>
                </a:cubicBezTo>
                <a:cubicBezTo>
                  <a:pt x="655" y="779"/>
                  <a:pt x="655" y="779"/>
                  <a:pt x="655" y="779"/>
                </a:cubicBezTo>
                <a:cubicBezTo>
                  <a:pt x="656" y="741"/>
                  <a:pt x="644" y="695"/>
                  <a:pt x="631" y="653"/>
                </a:cubicBezTo>
                <a:cubicBezTo>
                  <a:pt x="617" y="610"/>
                  <a:pt x="597" y="573"/>
                  <a:pt x="573" y="548"/>
                </a:cubicBezTo>
                <a:cubicBezTo>
                  <a:pt x="477" y="548"/>
                  <a:pt x="477" y="548"/>
                  <a:pt x="477" y="548"/>
                </a:cubicBezTo>
                <a:cubicBezTo>
                  <a:pt x="477" y="507"/>
                  <a:pt x="477" y="507"/>
                  <a:pt x="477" y="507"/>
                </a:cubicBezTo>
                <a:cubicBezTo>
                  <a:pt x="586" y="507"/>
                  <a:pt x="586" y="507"/>
                  <a:pt x="586" y="507"/>
                </a:cubicBezTo>
                <a:cubicBezTo>
                  <a:pt x="595" y="509"/>
                  <a:pt x="595" y="509"/>
                  <a:pt x="595" y="509"/>
                </a:cubicBezTo>
                <a:cubicBezTo>
                  <a:pt x="627" y="539"/>
                  <a:pt x="653" y="588"/>
                  <a:pt x="670" y="640"/>
                </a:cubicBezTo>
                <a:cubicBezTo>
                  <a:pt x="687" y="695"/>
                  <a:pt x="701" y="759"/>
                  <a:pt x="696" y="807"/>
                </a:cubicBezTo>
                <a:close/>
                <a:moveTo>
                  <a:pt x="354" y="752"/>
                </a:moveTo>
                <a:cubicBezTo>
                  <a:pt x="300" y="711"/>
                  <a:pt x="300" y="711"/>
                  <a:pt x="300" y="711"/>
                </a:cubicBezTo>
                <a:cubicBezTo>
                  <a:pt x="335" y="569"/>
                  <a:pt x="335" y="569"/>
                  <a:pt x="335" y="569"/>
                </a:cubicBezTo>
                <a:cubicBezTo>
                  <a:pt x="322" y="547"/>
                  <a:pt x="322" y="547"/>
                  <a:pt x="322" y="547"/>
                </a:cubicBezTo>
                <a:cubicBezTo>
                  <a:pt x="323" y="525"/>
                  <a:pt x="323" y="525"/>
                  <a:pt x="323" y="525"/>
                </a:cubicBezTo>
                <a:cubicBezTo>
                  <a:pt x="348" y="524"/>
                  <a:pt x="356" y="524"/>
                  <a:pt x="381" y="525"/>
                </a:cubicBezTo>
                <a:cubicBezTo>
                  <a:pt x="382" y="547"/>
                  <a:pt x="382" y="547"/>
                  <a:pt x="382" y="547"/>
                </a:cubicBezTo>
                <a:cubicBezTo>
                  <a:pt x="369" y="569"/>
                  <a:pt x="369" y="569"/>
                  <a:pt x="369" y="569"/>
                </a:cubicBezTo>
                <a:cubicBezTo>
                  <a:pt x="409" y="711"/>
                  <a:pt x="409" y="711"/>
                  <a:pt x="409" y="711"/>
                </a:cubicBezTo>
                <a:cubicBezTo>
                  <a:pt x="354" y="752"/>
                  <a:pt x="354" y="752"/>
                  <a:pt x="354" y="752"/>
                </a:cubicBezTo>
                <a:close/>
                <a:moveTo>
                  <a:pt x="512" y="341"/>
                </a:moveTo>
                <a:cubicBezTo>
                  <a:pt x="498" y="389"/>
                  <a:pt x="479" y="425"/>
                  <a:pt x="454" y="452"/>
                </a:cubicBezTo>
                <a:cubicBezTo>
                  <a:pt x="426" y="481"/>
                  <a:pt x="392" y="498"/>
                  <a:pt x="348" y="507"/>
                </a:cubicBezTo>
                <a:cubicBezTo>
                  <a:pt x="345" y="508"/>
                  <a:pt x="345" y="508"/>
                  <a:pt x="345" y="508"/>
                </a:cubicBezTo>
                <a:cubicBezTo>
                  <a:pt x="341" y="508"/>
                  <a:pt x="341" y="508"/>
                  <a:pt x="341" y="508"/>
                </a:cubicBezTo>
                <a:cubicBezTo>
                  <a:pt x="302" y="501"/>
                  <a:pt x="268" y="484"/>
                  <a:pt x="239" y="455"/>
                </a:cubicBezTo>
                <a:cubicBezTo>
                  <a:pt x="212" y="428"/>
                  <a:pt x="191" y="391"/>
                  <a:pt x="177" y="342"/>
                </a:cubicBezTo>
                <a:cubicBezTo>
                  <a:pt x="164" y="335"/>
                  <a:pt x="155" y="324"/>
                  <a:pt x="149" y="309"/>
                </a:cubicBezTo>
                <a:cubicBezTo>
                  <a:pt x="142" y="293"/>
                  <a:pt x="139" y="271"/>
                  <a:pt x="139" y="246"/>
                </a:cubicBezTo>
                <a:cubicBezTo>
                  <a:pt x="139" y="236"/>
                  <a:pt x="139" y="236"/>
                  <a:pt x="139" y="236"/>
                </a:cubicBezTo>
                <a:cubicBezTo>
                  <a:pt x="148" y="231"/>
                  <a:pt x="148" y="231"/>
                  <a:pt x="148" y="231"/>
                </a:cubicBezTo>
                <a:cubicBezTo>
                  <a:pt x="150" y="229"/>
                  <a:pt x="153" y="227"/>
                  <a:pt x="156" y="226"/>
                </a:cubicBezTo>
                <a:cubicBezTo>
                  <a:pt x="143" y="150"/>
                  <a:pt x="147" y="85"/>
                  <a:pt x="193" y="42"/>
                </a:cubicBezTo>
                <a:cubicBezTo>
                  <a:pt x="229" y="15"/>
                  <a:pt x="294" y="34"/>
                  <a:pt x="353" y="25"/>
                </a:cubicBezTo>
                <a:cubicBezTo>
                  <a:pt x="521" y="0"/>
                  <a:pt x="520" y="85"/>
                  <a:pt x="537" y="229"/>
                </a:cubicBezTo>
                <a:cubicBezTo>
                  <a:pt x="538" y="230"/>
                  <a:pt x="539" y="230"/>
                  <a:pt x="540" y="231"/>
                </a:cubicBezTo>
                <a:cubicBezTo>
                  <a:pt x="548" y="236"/>
                  <a:pt x="548" y="236"/>
                  <a:pt x="548" y="236"/>
                </a:cubicBezTo>
                <a:cubicBezTo>
                  <a:pt x="548" y="246"/>
                  <a:pt x="548" y="246"/>
                  <a:pt x="548" y="246"/>
                </a:cubicBezTo>
                <a:cubicBezTo>
                  <a:pt x="549" y="271"/>
                  <a:pt x="546" y="292"/>
                  <a:pt x="539" y="308"/>
                </a:cubicBezTo>
                <a:cubicBezTo>
                  <a:pt x="533" y="323"/>
                  <a:pt x="524" y="334"/>
                  <a:pt x="512" y="341"/>
                </a:cubicBezTo>
                <a:close/>
                <a:moveTo>
                  <a:pt x="492" y="265"/>
                </a:moveTo>
                <a:cubicBezTo>
                  <a:pt x="490" y="256"/>
                  <a:pt x="490" y="256"/>
                  <a:pt x="490" y="256"/>
                </a:cubicBezTo>
                <a:cubicBezTo>
                  <a:pt x="484" y="257"/>
                  <a:pt x="484" y="257"/>
                  <a:pt x="484" y="257"/>
                </a:cubicBezTo>
                <a:cubicBezTo>
                  <a:pt x="481" y="240"/>
                  <a:pt x="481" y="240"/>
                  <a:pt x="481" y="240"/>
                </a:cubicBezTo>
                <a:cubicBezTo>
                  <a:pt x="479" y="227"/>
                  <a:pt x="475" y="161"/>
                  <a:pt x="470" y="150"/>
                </a:cubicBezTo>
                <a:cubicBezTo>
                  <a:pt x="455" y="156"/>
                  <a:pt x="439" y="145"/>
                  <a:pt x="424" y="136"/>
                </a:cubicBezTo>
                <a:cubicBezTo>
                  <a:pt x="417" y="160"/>
                  <a:pt x="417" y="160"/>
                  <a:pt x="417" y="160"/>
                </a:cubicBezTo>
                <a:cubicBezTo>
                  <a:pt x="405" y="158"/>
                  <a:pt x="405" y="158"/>
                  <a:pt x="405" y="158"/>
                </a:cubicBezTo>
                <a:cubicBezTo>
                  <a:pt x="406" y="144"/>
                  <a:pt x="406" y="144"/>
                  <a:pt x="406" y="144"/>
                </a:cubicBezTo>
                <a:cubicBezTo>
                  <a:pt x="394" y="164"/>
                  <a:pt x="394" y="164"/>
                  <a:pt x="394" y="164"/>
                </a:cubicBezTo>
                <a:cubicBezTo>
                  <a:pt x="382" y="162"/>
                  <a:pt x="382" y="162"/>
                  <a:pt x="382" y="162"/>
                </a:cubicBezTo>
                <a:cubicBezTo>
                  <a:pt x="393" y="132"/>
                  <a:pt x="393" y="132"/>
                  <a:pt x="393" y="132"/>
                </a:cubicBezTo>
                <a:cubicBezTo>
                  <a:pt x="334" y="173"/>
                  <a:pt x="231" y="171"/>
                  <a:pt x="218" y="153"/>
                </a:cubicBezTo>
                <a:cubicBezTo>
                  <a:pt x="216" y="155"/>
                  <a:pt x="215" y="159"/>
                  <a:pt x="214" y="162"/>
                </a:cubicBezTo>
                <a:cubicBezTo>
                  <a:pt x="211" y="173"/>
                  <a:pt x="208" y="242"/>
                  <a:pt x="205" y="253"/>
                </a:cubicBezTo>
                <a:cubicBezTo>
                  <a:pt x="205" y="257"/>
                  <a:pt x="205" y="257"/>
                  <a:pt x="205" y="257"/>
                </a:cubicBezTo>
                <a:cubicBezTo>
                  <a:pt x="204" y="257"/>
                  <a:pt x="204" y="257"/>
                  <a:pt x="204" y="257"/>
                </a:cubicBezTo>
                <a:cubicBezTo>
                  <a:pt x="204" y="260"/>
                  <a:pt x="203" y="261"/>
                  <a:pt x="202" y="263"/>
                </a:cubicBezTo>
                <a:cubicBezTo>
                  <a:pt x="197" y="260"/>
                  <a:pt x="187" y="262"/>
                  <a:pt x="178" y="264"/>
                </a:cubicBezTo>
                <a:cubicBezTo>
                  <a:pt x="179" y="276"/>
                  <a:pt x="181" y="286"/>
                  <a:pt x="184" y="295"/>
                </a:cubicBezTo>
                <a:cubicBezTo>
                  <a:pt x="188" y="303"/>
                  <a:pt x="192" y="308"/>
                  <a:pt x="198" y="310"/>
                </a:cubicBezTo>
                <a:cubicBezTo>
                  <a:pt x="208" y="313"/>
                  <a:pt x="208" y="313"/>
                  <a:pt x="208" y="313"/>
                </a:cubicBezTo>
                <a:cubicBezTo>
                  <a:pt x="211" y="323"/>
                  <a:pt x="211" y="323"/>
                  <a:pt x="211" y="323"/>
                </a:cubicBezTo>
                <a:cubicBezTo>
                  <a:pt x="224" y="371"/>
                  <a:pt x="243" y="405"/>
                  <a:pt x="266" y="429"/>
                </a:cubicBezTo>
                <a:cubicBezTo>
                  <a:pt x="288" y="451"/>
                  <a:pt x="314" y="464"/>
                  <a:pt x="344" y="470"/>
                </a:cubicBezTo>
                <a:cubicBezTo>
                  <a:pt x="378" y="462"/>
                  <a:pt x="405" y="448"/>
                  <a:pt x="426" y="426"/>
                </a:cubicBezTo>
                <a:cubicBezTo>
                  <a:pt x="449" y="402"/>
                  <a:pt x="465" y="369"/>
                  <a:pt x="478" y="323"/>
                </a:cubicBezTo>
                <a:cubicBezTo>
                  <a:pt x="480" y="313"/>
                  <a:pt x="480" y="313"/>
                  <a:pt x="480" y="313"/>
                </a:cubicBezTo>
                <a:cubicBezTo>
                  <a:pt x="490" y="310"/>
                  <a:pt x="490" y="310"/>
                  <a:pt x="490" y="310"/>
                </a:cubicBezTo>
                <a:cubicBezTo>
                  <a:pt x="496" y="308"/>
                  <a:pt x="500" y="302"/>
                  <a:pt x="504" y="294"/>
                </a:cubicBezTo>
                <a:cubicBezTo>
                  <a:pt x="507" y="286"/>
                  <a:pt x="509" y="276"/>
                  <a:pt x="510" y="264"/>
                </a:cubicBezTo>
                <a:cubicBezTo>
                  <a:pt x="504" y="264"/>
                  <a:pt x="499" y="264"/>
                  <a:pt x="492" y="265"/>
                </a:cubicBezTo>
                <a:close/>
              </a:path>
            </a:pathLst>
          </a:custGeom>
          <a:solidFill>
            <a:srgbClr val="9A0000"/>
          </a:solidFill>
          <a:ln w="10192">
            <a:solidFill>
              <a:srgbClr val="9A0000"/>
            </a:solidFill>
          </a:ln>
          <a:effectLst/>
        </p:spPr>
        <p:txBody>
          <a:bodyPr vert="horz" wrap="square" lIns="97841" tIns="48920" rIns="97841" bIns="48920" numCol="1" anchor="t" anchorCtr="0" compatLnSpc="1"/>
          <a:lstStyle/>
          <a:p>
            <a:endParaRPr lang="zh-CN" altLang="en-US" sz="1925">
              <a:solidFill>
                <a:schemeClr val="bg1"/>
              </a:solidFill>
              <a:latin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3550" y="278132"/>
            <a:ext cx="8216283" cy="759735"/>
          </a:xfrm>
        </p:spPr>
        <p:txBody>
          <a:bodyPr>
            <a:normAutofit/>
          </a:bodyPr>
          <a:lstStyle/>
          <a:p>
            <a:r>
              <a:rPr lang="en-US" altLang="zh-CN" i="0" dirty="0"/>
              <a:t>Contributions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535568" y="1617387"/>
            <a:ext cx="108619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>
              <a:cs typeface="Times New Roman" panose="02020603050405020304" pitchFamily="18" charset="0"/>
            </a:endParaRPr>
          </a:p>
          <a:p>
            <a:endParaRPr lang="zh-CN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733044"/>
              </p:ext>
            </p:extLst>
          </p:nvPr>
        </p:nvGraphicFramePr>
        <p:xfrm>
          <a:off x="1365370" y="1828745"/>
          <a:ext cx="9548436" cy="4190970"/>
        </p:xfrm>
        <a:graphic>
          <a:graphicData uri="http://schemas.openxmlformats.org/drawingml/2006/table">
            <a:tbl>
              <a:tblPr firstRow="1" bandRow="1">
                <a:tableStyleId>{9F8F6646-4D71-4396-A21B-ED43A112D7C4}</a:tableStyleId>
              </a:tblPr>
              <a:tblGrid>
                <a:gridCol w="3358771"/>
                <a:gridCol w="6189665"/>
              </a:tblGrid>
              <a:tr h="69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anchor="ctr"/>
                </a:tc>
              </a:tr>
              <a:tr h="6984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Xuanxin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 &amp; </a:t>
                      </a:r>
                      <a:r>
                        <a:rPr lang="en-US" altLang="zh-C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 &amp; Slides</a:t>
                      </a:r>
                      <a:endParaRPr lang="en-US" altLang="zh-C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984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Zhenzhen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&amp; </a:t>
                      </a:r>
                      <a:r>
                        <a:rPr lang="en-US" altLang="zh-C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Editor &amp; Slides</a:t>
                      </a:r>
                      <a:endParaRPr lang="en-US" altLang="zh-C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984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Hao Wu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</a:tr>
              <a:tr h="6984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Qinzhou Zhang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Work</a:t>
                      </a:r>
                    </a:p>
                  </a:txBody>
                  <a:tcPr anchor="ctr"/>
                </a:tc>
              </a:tr>
              <a:tr h="6984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Xiaolong Guo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&amp; Slides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3550" y="278132"/>
            <a:ext cx="8216283" cy="759735"/>
          </a:xfrm>
        </p:spPr>
        <p:txBody>
          <a:bodyPr/>
          <a:lstStyle/>
          <a:p>
            <a:r>
              <a:rPr lang="en-US" altLang="zh-CN" dirty="0"/>
              <a:t>Background &amp; Motivation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24815" y="1843405"/>
            <a:ext cx="10950121" cy="1102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Times New Roman" panose="02020603050405020304" pitchFamily="18" charset="0"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Multimodal Large Language Models (MLLMs) face challenges processing </a:t>
            </a:r>
            <a:endParaRPr lang="en-US" altLang="zh-CN" sz="2800" dirty="0" smtClean="0">
              <a:cs typeface="Times New Roman" panose="02020603050405020304" pitchFamily="18" charset="0"/>
            </a:endParaRPr>
          </a:p>
          <a:p>
            <a:pPr indent="0">
              <a:buFont typeface="Times New Roman" panose="02020603050405020304" pitchFamily="18" charset="0"/>
              <a:buNone/>
            </a:pPr>
            <a:r>
              <a:rPr lang="en-US" altLang="zh-CN" sz="2800" dirty="0" smtClean="0">
                <a:cs typeface="Times New Roman" panose="02020603050405020304" pitchFamily="18" charset="0"/>
              </a:rPr>
              <a:t>long </a:t>
            </a:r>
            <a:r>
              <a:rPr lang="en-US" altLang="zh-CN" sz="2800" dirty="0">
                <a:cs typeface="Times New Roman" panose="02020603050405020304" pitchFamily="18" charset="0"/>
              </a:rPr>
              <a:t>videos due to limited context windows.</a:t>
            </a:r>
          </a:p>
          <a:p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1181" y="3530540"/>
            <a:ext cx="10913134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>
              <a:buFont typeface="Arial" panose="020B0604020202020204" pitchFamily="34" charset="0"/>
              <a:buChar char="•"/>
            </a:pPr>
            <a:r>
              <a:rPr lang="en-US" altLang="zh-CN" sz="2800" b="1" dirty="0" smtClean="0"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 smtClean="0">
                <a:cs typeface="Times New Roman" panose="02020603050405020304" pitchFamily="18" charset="0"/>
              </a:rPr>
              <a:t>UNI</a:t>
            </a:r>
            <a:r>
              <a:rPr lang="en-US" altLang="zh-CN" sz="2800" dirty="0" smtClean="0"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cs typeface="Times New Roman" panose="02020603050405020304" pitchFamily="18" charset="0"/>
              </a:rPr>
              <a:t>(uniform sampling) ignores semantic relevance</a:t>
            </a:r>
            <a:r>
              <a:rPr lang="en-US" altLang="zh-CN" sz="2800" dirty="0" smtClean="0">
                <a:cs typeface="Times New Roman" panose="02020603050405020304" pitchFamily="18" charset="0"/>
              </a:rPr>
              <a:t>.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altLang="zh-CN" sz="2800" b="1" dirty="0" smtClean="0">
                <a:cs typeface="Times New Roman" panose="02020603050405020304" pitchFamily="18" charset="0"/>
                <a:sym typeface="+mn-ea"/>
              </a:rPr>
              <a:t> TOP</a:t>
            </a:r>
            <a:r>
              <a:rPr lang="en-US" altLang="zh-CN" sz="2800" dirty="0" smtClean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dirty="0">
                <a:cs typeface="Times New Roman" panose="02020603050405020304" pitchFamily="18" charset="0"/>
                <a:sym typeface="+mn-ea"/>
              </a:rPr>
              <a:t>(top relevance) selects clustered frames, missing </a:t>
            </a:r>
            <a:r>
              <a:rPr lang="en-US" altLang="zh-CN" sz="2800" dirty="0" smtClean="0">
                <a:cs typeface="Times New Roman" panose="02020603050405020304" pitchFamily="18" charset="0"/>
                <a:sym typeface="+mn-ea"/>
              </a:rPr>
              <a:t>events.</a:t>
            </a:r>
            <a:endParaRPr lang="en-US" altLang="zh-CN" sz="2800" dirty="0"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49250" y="3495675"/>
            <a:ext cx="0" cy="1732280"/>
          </a:xfrm>
          <a:prstGeom prst="line">
            <a:avLst/>
          </a:prstGeom>
          <a:ln>
            <a:gradFill>
              <a:gsLst>
                <a:gs pos="0">
                  <a:srgbClr val="C71C01">
                    <a:alpha val="0"/>
                  </a:srgbClr>
                </a:gs>
                <a:gs pos="50000">
                  <a:srgbClr val="C71C01"/>
                </a:gs>
                <a:gs pos="100000">
                  <a:srgbClr val="C71C0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24814" y="5243314"/>
            <a:ext cx="106895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en-US" altLang="zh-CN" sz="2800" b="0" i="0" dirty="0" smtClean="0">
                <a:cs typeface="Times New Roman" panose="02020603050405020304" pitchFamily="18" charset="0"/>
              </a:rPr>
              <a:t>Extend </a:t>
            </a:r>
            <a:r>
              <a:rPr lang="en-US" altLang="zh-CN" sz="2800" b="0" i="0" dirty="0">
                <a:cs typeface="Times New Roman" panose="02020603050405020304" pitchFamily="18" charset="0"/>
              </a:rPr>
              <a:t>a keyframe selection module to optimize MLLM performance </a:t>
            </a:r>
            <a:r>
              <a:rPr lang="en-US" altLang="zh-CN" sz="2800" b="0" i="0" dirty="0" smtClean="0">
                <a:cs typeface="Times New Roman" panose="02020603050405020304" pitchFamily="18" charset="0"/>
              </a:rPr>
              <a:t>for complex videos environment.</a:t>
            </a:r>
            <a:endParaRPr lang="en-US" altLang="zh-CN" sz="2800" b="0" i="0" dirty="0"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4815" y="1314531"/>
            <a:ext cx="21002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/>
              <a:t>Challenges</a:t>
            </a:r>
            <a:endParaRPr lang="zh-CN" altLang="en-US" sz="32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24814" y="3027305"/>
            <a:ext cx="4017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 smtClean="0"/>
              <a:t>Tranditional</a:t>
            </a:r>
            <a:r>
              <a:rPr lang="en-US" altLang="zh-CN" sz="3200" b="1" dirty="0" smtClean="0"/>
              <a:t> Methods</a:t>
            </a:r>
            <a:endParaRPr lang="zh-CN" altLang="en-US" sz="32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424814" y="4748200"/>
            <a:ext cx="2695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/>
              <a:t>Our Objective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 &amp; Motivation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84037" y="2153265"/>
            <a:ext cx="11133801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cs typeface="Times New Roman" panose="02020603050405020304" pitchFamily="18" charset="0"/>
              </a:rPr>
              <a:t>Formulates </a:t>
            </a:r>
            <a:r>
              <a:rPr lang="en-US" altLang="zh-CN" sz="2800" b="1" dirty="0">
                <a:solidFill>
                  <a:schemeClr val="tx2"/>
                </a:solidFill>
                <a:cs typeface="Times New Roman" panose="02020603050405020304" pitchFamily="18" charset="0"/>
              </a:rPr>
              <a:t>keyframe selection</a:t>
            </a:r>
            <a:r>
              <a:rPr lang="en-US" altLang="zh-CN" sz="2800" dirty="0">
                <a:cs typeface="Times New Roman" panose="02020603050405020304" pitchFamily="18" charset="0"/>
              </a:rPr>
              <a:t> as </a:t>
            </a:r>
            <a:r>
              <a:rPr lang="en-US" altLang="zh-CN" sz="2800" b="1" dirty="0">
                <a:solidFill>
                  <a:schemeClr val="tx2"/>
                </a:solidFill>
                <a:cs typeface="Times New Roman" panose="02020603050405020304" pitchFamily="18" charset="0"/>
              </a:rPr>
              <a:t>an optimization problem</a:t>
            </a:r>
            <a:r>
              <a:rPr lang="en-US" altLang="zh-CN" sz="2800" dirty="0">
                <a:cs typeface="Times New Roman" panose="02020603050405020304" pitchFamily="18" charset="0"/>
              </a:rPr>
              <a:t> balancing two objectives:</a:t>
            </a:r>
          </a:p>
          <a:p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79" name="康帅8"/>
          <p:cNvSpPr/>
          <p:nvPr/>
        </p:nvSpPr>
        <p:spPr>
          <a:xfrm>
            <a:off x="584200" y="3197225"/>
            <a:ext cx="11077575" cy="2131060"/>
          </a:xfrm>
          <a:prstGeom prst="roundRect">
            <a:avLst/>
          </a:prstGeom>
          <a:solidFill>
            <a:schemeClr val="bg1"/>
          </a:solidFill>
          <a:ln w="9525" cap="flat">
            <a:solidFill>
              <a:srgbClr val="CB5C60">
                <a:alpha val="45000"/>
              </a:srgbClr>
            </a:solidFill>
            <a:prstDash val="solid"/>
            <a:miter/>
          </a:ln>
          <a:effectLst>
            <a:outerShdw blurRad="571500" sx="102000" sy="102000" algn="ctr" rotWithShape="0">
              <a:schemeClr val="tx1">
                <a:alpha val="1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Bold" panose="020B08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5645" y="3429000"/>
            <a:ext cx="1094549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altLang="zh-CN" sz="2800" b="1" dirty="0">
                <a:solidFill>
                  <a:schemeClr val="tx2"/>
                </a:solidFill>
                <a:cs typeface="Times New Roman" panose="02020603050405020304" pitchFamily="18" charset="0"/>
                <a:sym typeface="+mn-ea"/>
              </a:rPr>
              <a:t>Relevance</a:t>
            </a:r>
            <a:r>
              <a:rPr lang="en-US" altLang="zh-CN" sz="2800" b="1" dirty="0"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zh-CN" sz="2800" dirty="0">
                <a:cs typeface="Times New Roman" panose="02020603050405020304" pitchFamily="18" charset="0"/>
                <a:sym typeface="+mn-ea"/>
              </a:rPr>
              <a:t>Align with the user’s textual prompt, measured via vision-language models. 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zh-CN" sz="2800" b="1" dirty="0">
                <a:solidFill>
                  <a:schemeClr val="tx2"/>
                </a:solidFill>
                <a:cs typeface="Times New Roman" panose="02020603050405020304" pitchFamily="18" charset="0"/>
                <a:sym typeface="+mn-ea"/>
              </a:rPr>
              <a:t>Coverage</a:t>
            </a:r>
            <a:r>
              <a:rPr lang="en-US" altLang="zh-CN" sz="2800" b="1" dirty="0"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zh-CN" sz="2800" dirty="0">
                <a:cs typeface="Times New Roman" panose="02020603050405020304" pitchFamily="18" charset="0"/>
                <a:sym typeface="+mn-ea"/>
              </a:rPr>
              <a:t> Temporal distribution to avoid redundancy and ensure full video representation .</a:t>
            </a:r>
          </a:p>
        </p:txBody>
      </p:sp>
      <p:sp>
        <p:nvSpPr>
          <p:cNvPr id="3" name="矩形 2"/>
          <p:cNvSpPr/>
          <p:nvPr/>
        </p:nvSpPr>
        <p:spPr>
          <a:xfrm>
            <a:off x="584037" y="1444255"/>
            <a:ext cx="91211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/>
              <a:t>Adaptive </a:t>
            </a:r>
            <a:r>
              <a:rPr lang="en-US" altLang="zh-CN" sz="3200" b="1" dirty="0" err="1" smtClean="0"/>
              <a:t>Keyframe</a:t>
            </a:r>
            <a:r>
              <a:rPr lang="en-US" altLang="zh-CN" sz="3200" b="1" dirty="0" smtClean="0"/>
              <a:t> Selection (</a:t>
            </a:r>
            <a:r>
              <a:rPr lang="en-US" altLang="zh-CN" sz="3200" b="1" dirty="0" err="1" smtClean="0"/>
              <a:t>AKS</a:t>
            </a:r>
            <a:r>
              <a:rPr lang="en-US" altLang="zh-CN" sz="3200" b="1" dirty="0" smtClean="0"/>
              <a:t>)</a:t>
            </a:r>
            <a:r>
              <a:rPr lang="en-US" altLang="zh-CN" sz="3200" b="1" baseline="30000" dirty="0" smtClean="0"/>
              <a:t>1</a:t>
            </a:r>
            <a:r>
              <a:rPr lang="en-US" altLang="zh-CN" sz="3200" b="1" dirty="0" smtClean="0"/>
              <a:t> Basic Target </a:t>
            </a:r>
            <a:endParaRPr lang="zh-CN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584037" y="5725914"/>
            <a:ext cx="109374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  <a:latin typeface="+mn-ea"/>
              </a:rPr>
              <a:t>[1] Xiao 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Tang, </a:t>
            </a: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Jiabin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Qiu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Liangjian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Xie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, Ying Tian, </a:t>
            </a:r>
            <a:r>
              <a:rPr lang="en-US" altLang="zh-CN" dirty="0" err="1" smtClean="0">
                <a:solidFill>
                  <a:srgbClr val="000000"/>
                </a:solidFill>
                <a:latin typeface="+mn-ea"/>
              </a:rPr>
              <a:t>Jianfeng</a:t>
            </a:r>
            <a:r>
              <a:rPr lang="en-US" altLang="zh-CN" dirty="0" smtClean="0">
                <a:solidFill>
                  <a:srgbClr val="000000"/>
                </a:solidFill>
                <a:latin typeface="+mn-ea"/>
              </a:rPr>
              <a:t> Jiao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, and </a:t>
            </a: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Qixiang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 Ye. Adaptive </a:t>
            </a: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keyframe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 sampling </a:t>
            </a:r>
            <a:r>
              <a:rPr lang="en-US" altLang="zh-CN" dirty="0" smtClean="0">
                <a:solidFill>
                  <a:srgbClr val="000000"/>
                </a:solidFill>
                <a:latin typeface="+mn-ea"/>
              </a:rPr>
              <a:t>for long 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video understanding. </a:t>
            </a:r>
            <a:r>
              <a:rPr lang="en-US" altLang="zh-CN" i="1" dirty="0" err="1">
                <a:solidFill>
                  <a:srgbClr val="000000"/>
                </a:solidFill>
                <a:latin typeface="+mn-ea"/>
              </a:rPr>
              <a:t>arXiv</a:t>
            </a:r>
            <a:r>
              <a:rPr lang="en-US" altLang="zh-CN" i="1" dirty="0">
                <a:solidFill>
                  <a:srgbClr val="000000"/>
                </a:solidFill>
                <a:latin typeface="+mn-ea"/>
              </a:rPr>
              <a:t> preprint </a:t>
            </a:r>
            <a:r>
              <a:rPr lang="en-US" altLang="zh-CN" i="1" dirty="0" err="1" smtClean="0">
                <a:solidFill>
                  <a:srgbClr val="000000"/>
                </a:solidFill>
                <a:latin typeface="+mn-ea"/>
              </a:rPr>
              <a:t>arXiv:2502.21271</a:t>
            </a:r>
            <a:r>
              <a:rPr lang="en-US" altLang="zh-CN" dirty="0" smtClean="0">
                <a:solidFill>
                  <a:srgbClr val="000000"/>
                </a:solidFill>
                <a:latin typeface="+mn-ea"/>
              </a:rPr>
              <a:t>, 2025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.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05353" y="1958729"/>
            <a:ext cx="7348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Times New Roman" panose="02020603050405020304" pitchFamily="18" charset="0"/>
              </a:rPr>
              <a:t>Reformulate the optimization problem as: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 descr="7b0a202020202262756c6c6574223a20227b5c2263617465676f727949645c223a5c225c222c5c2274656d706c61746549645c223a32303233313537397d220a7d0a"/>
              <p:cNvSpPr txBox="1"/>
              <p:nvPr/>
            </p:nvSpPr>
            <p:spPr>
              <a:xfrm>
                <a:off x="762572" y="3960147"/>
                <a:ext cx="10666854" cy="1224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l" fontAlgn="auto">
                  <a:lnSpc>
                    <a:spcPct val="100000"/>
                  </a:lnSpc>
                  <a:buFont typeface="Times New Roman" panose="02020603050405020304" pitchFamily="18" charset="0"/>
                  <a:buBlip>
                    <a:blip r:embed="rId4"/>
                  </a:buBlip>
                </a:pPr>
                <a14:m>
                  <m:oMath xmlns:m="http://schemas.openxmlformats.org/officeDocument/2006/math"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40404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+mn-ea"/>
                  </a:rPr>
                  <a:t>Relevance score via vision-lan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+mn-ea"/>
                  </a:rPr>
                  <a:t>guage models</a:t>
                </a:r>
                <a:r>
                  <a:rPr lang="en-US" altLang="zh-CN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(e.g., CLIP/BLIP)</a:t>
                </a:r>
              </a:p>
              <a:p>
                <a:pPr indent="0" algn="l" fontAlgn="auto">
                  <a:lnSpc>
                    <a:spcPct val="100000"/>
                  </a:lnSpc>
                  <a:buFont typeface="Times New Roman" panose="02020603050405020304" pitchFamily="18" charset="0"/>
                  <a:buBlip>
                    <a:blip r:embed="rId4"/>
                  </a:buBlip>
                </a:pPr>
                <a:endParaRPr lang="en-US" altLang="zh-CN" sz="2400" b="0" i="0" dirty="0">
                  <a:solidFill>
                    <a:srgbClr val="40404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l" fontAlgn="auto">
                  <a:lnSpc>
                    <a:spcPct val="100000"/>
                  </a:lnSpc>
                  <a:spcBef>
                    <a:spcPts val="200"/>
                  </a:spcBef>
                  <a:spcAft>
                    <a:spcPts val="500"/>
                  </a:spcAft>
                  <a:buFont typeface="Arial" panose="020B0604020202020204"/>
                  <a:buBlip>
                    <a:blip r:embed="rId4"/>
                  </a:buBlip>
                </a:pPr>
                <a14:m>
                  <m:oMath xmlns:m="http://schemas.openxmlformats.org/officeDocument/2006/math"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2400" b="0" i="1" dirty="0">
                        <a:solidFill>
                          <a:srgbClr val="404040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40404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+mn-ea"/>
                  </a:rPr>
                  <a:t>Temporal coverage via recursive binning (inspired by Ripley’s K-function) .</a:t>
                </a:r>
                <a:endParaRPr lang="en-US" altLang="zh-CN" sz="2400" b="0" i="0" dirty="0">
                  <a:solidFill>
                    <a:srgbClr val="40404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 descr="7b0a202020202262756c6c6574223a20227b5c2263617465676f727949645c223a5c225c222c5c2274656d706c61746549645c223a32303233313537397d220a7d0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72" y="3960147"/>
                <a:ext cx="10666854" cy="1224915"/>
              </a:xfrm>
              <a:prstGeom prst="rect">
                <a:avLst/>
              </a:prstGeom>
              <a:blipFill rotWithShape="1">
                <a:blip r:embed="rId5"/>
                <a:stretch>
                  <a:fillRect l="-5" t="-23" r="1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762635" y="2727960"/>
            <a:ext cx="5987415" cy="986155"/>
          </a:xfrm>
          <a:prstGeom prst="rect">
            <a:avLst/>
          </a:prstGeom>
          <a:noFill/>
          <a:ln w="47625" cmpd="sng">
            <a:solidFill>
              <a:srgbClr val="B30000"/>
            </a:solidFill>
            <a:prstDash val="sysDash"/>
          </a:ln>
        </p:spPr>
        <p:txBody>
          <a:bodyPr wrap="square" rtlCol="0">
            <a:noAutofit/>
          </a:bodyPr>
          <a:lstStyle/>
          <a:p>
            <a:pPr algn="ctr"/>
            <a:endParaRPr lang="zh-CN" altLang="en-US" sz="240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21601" y="2832989"/>
                <a:ext cx="5937885" cy="775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𝑎𝑟𝑔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𝑚𝑎𝑥</m:t>
                            </m:r>
                          </m:e>
                        </m:mr>
                        <m:mr>
                          <m:e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|</m:t>
                            </m:r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𝐼</m:t>
                            </m:r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|=</m:t>
                            </m:r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</m:mr>
                      </m:m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∈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sub>
                        <m:sup/>
                        <m:e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dirty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b="0" i="1" dirty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)+</m:t>
                          </m:r>
                          <m:r>
                            <a:rPr lang="en-US" altLang="zh-CN" sz="200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  <m:r>
                            <a:rPr lang="en-US" altLang="zh-CN" sz="200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∙</m:t>
                          </m:r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sz="2000" b="0" i="1" dirty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01" y="2832989"/>
                <a:ext cx="5937885" cy="775970"/>
              </a:xfrm>
              <a:prstGeom prst="rect">
                <a:avLst/>
              </a:prstGeom>
              <a:blipFill rotWithShape="1">
                <a:blip r:embed="rId6"/>
                <a:stretch>
                  <a:fillRect l="-10" t="-33" r="10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05353" y="1293283"/>
            <a:ext cx="3318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Method Modeling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Methodology -</a:t>
            </a:r>
            <a:r>
              <a:rPr lang="en-US" altLang="zh-CN" dirty="0" smtClean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Divide-and-Conquer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5744306" y="1287802"/>
            <a:ext cx="6233329" cy="4098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Recursive Judge-and-Split</a:t>
            </a:r>
          </a:p>
          <a:p>
            <a:pPr marL="342900" indent="-342900">
              <a:spcBef>
                <a:spcPts val="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Adaptive Balance</a:t>
            </a:r>
          </a:p>
          <a:p>
            <a:pPr>
              <a:spcBef>
                <a:spcPts val="200"/>
              </a:spcBef>
              <a:spcAft>
                <a:spcPct val="0"/>
              </a:spcAft>
            </a:pPr>
            <a:endParaRPr lang="en-US" altLang="zh-CN" sz="2800" dirty="0" smtClean="0">
              <a:solidFill>
                <a:schemeClr val="tx1"/>
              </a:solidFill>
              <a:latin typeface="Times New Roman" panose="02020603050405020304" pitchFamily="18" charset="0"/>
              <a:ea typeface="PingFang SC" panose="020B0400000000000000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2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Adaptive strategy balancing relevance (</a:t>
            </a:r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mean-top k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&gt; </a:t>
            </a:r>
            <a:r>
              <a:rPr lang="el-GR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μ +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t₁) and coverage (</a:t>
            </a:r>
            <a:r>
              <a:rPr lang="el-GR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σ &gt;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t₂</a:t>
            </a:r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>
              <a:spcBef>
                <a:spcPts val="200"/>
              </a:spcBef>
              <a:spcAft>
                <a:spcPct val="0"/>
              </a:spcAft>
            </a:pPr>
            <a:endParaRPr lang="en-US" altLang="zh-CN" sz="2800" dirty="0" smtClean="0">
              <a:solidFill>
                <a:schemeClr val="tx1"/>
              </a:solidFill>
              <a:latin typeface="Times New Roman" panose="02020603050405020304" pitchFamily="18" charset="0"/>
              <a:ea typeface="PingFang SC" panose="020B0400000000000000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200"/>
              </a:spcBef>
              <a:spcAft>
                <a:spcPct val="0"/>
              </a:spcAft>
            </a:pPr>
            <a:r>
              <a:rPr lang="en-US" altLang="zh-CN" sz="2800" dirty="0"/>
              <a:t>Hyper-parameter </a:t>
            </a:r>
            <a:r>
              <a:rPr lang="zh-CN" altLang="en-US" sz="2800" dirty="0" smtClean="0"/>
              <a:t>𝑆𝑡</a:t>
            </a:r>
            <a:r>
              <a:rPr lang="en-US" altLang="zh-CN" sz="2800" dirty="0"/>
              <a:t>ℎ</a:t>
            </a:r>
            <a:r>
              <a:rPr lang="zh-CN" altLang="en-US" sz="2800" dirty="0"/>
              <a:t>𝑟 </a:t>
            </a:r>
            <a:r>
              <a:rPr lang="en-US" altLang="zh-CN" sz="2800" dirty="0"/>
              <a:t>controls trade-off between relevance (</a:t>
            </a:r>
            <a:r>
              <a:rPr lang="zh-CN" altLang="en-US" sz="2800" dirty="0" smtClean="0"/>
              <a:t>𝜆 ≈ </a:t>
            </a:r>
            <a:r>
              <a:rPr lang="en-US" altLang="zh-CN" sz="2800" dirty="0" smtClean="0"/>
              <a:t>0</a:t>
            </a:r>
            <a:r>
              <a:rPr lang="en-US" altLang="zh-CN" sz="2800" dirty="0"/>
              <a:t>) and coverage (</a:t>
            </a:r>
            <a:r>
              <a:rPr lang="zh-CN" altLang="en-US" sz="2800" dirty="0"/>
              <a:t>𝜆→∞</a:t>
            </a:r>
            <a:r>
              <a:rPr lang="en-US" altLang="zh-CN" sz="2800" dirty="0" smtClean="0"/>
              <a:t>).</a:t>
            </a:r>
            <a:endParaRPr lang="en-US" altLang="zh-CN" sz="2800" dirty="0" smtClean="0">
              <a:solidFill>
                <a:schemeClr val="tx1"/>
              </a:solidFill>
              <a:latin typeface="Times New Roman" panose="02020603050405020304" pitchFamily="18" charset="0"/>
              <a:ea typeface="PingFang SC" panose="020B0400000000000000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41" y="1074802"/>
            <a:ext cx="4587638" cy="52811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Time Complexity Analysis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/>
              <p:nvPr>
                <p:extLst>
                  <p:ext uri="{D42A27DB-BD31-4B8C-83A1-F6EECF244321}">
                    <p14:modId xmlns:p14="http://schemas.microsoft.com/office/powerpoint/2010/main" val="1780127246"/>
                  </p:ext>
                </p:extLst>
              </p:nvPr>
            </p:nvGraphicFramePr>
            <p:xfrm>
              <a:off x="467360" y="2139315"/>
              <a:ext cx="11259820" cy="1683382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495040"/>
                    <a:gridCol w="3126740"/>
                    <a:gridCol w="4638040"/>
                  </a:tblGrid>
                  <a:tr h="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Method</a:t>
                          </a:r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/>
                            <a:t>Time Complexity</a:t>
                          </a:r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Key Optimization</a:t>
                          </a:r>
                        </a:p>
                      </a:txBody>
                      <a:tcPr marL="114617" marR="114617" marT="76517" marB="76517" anchor="ctr"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 err="1" smtClean="0"/>
                            <a:t>AKS</a:t>
                          </a:r>
                          <a:r>
                            <a:rPr lang="en-US" altLang="zh-CN" sz="2400" dirty="0" smtClean="0"/>
                            <a:t>(original)</a:t>
                          </a:r>
                          <a:endParaRPr lang="en-US" altLang="zh-CN" sz="2400" dirty="0"/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  <a:spcBef>
                              <a:spcPts val="500"/>
                            </a:spcBef>
                            <a:spcAft>
                              <a:spcPts val="5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𝑙𝑜𝑔𝑛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Repeated sorting in recursion</a:t>
                          </a:r>
                        </a:p>
                      </a:txBody>
                      <a:tcPr marL="114617" marR="114617" marT="76517" marB="76517" anchor="ctr"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 err="1" smtClean="0"/>
                            <a:t>MAKS</a:t>
                          </a:r>
                          <a:r>
                            <a:rPr lang="en-US" altLang="zh-CN" sz="2400" dirty="0" smtClean="0"/>
                            <a:t>(optimized)</a:t>
                          </a:r>
                          <a:endParaRPr lang="en-US" altLang="zh-CN" sz="2400" dirty="0"/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  <a:spcBef>
                              <a:spcPts val="500"/>
                            </a:spcBef>
                            <a:spcAft>
                              <a:spcPts val="5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𝑙𝑜𝑔𝑑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Partial sorting (</a:t>
                          </a:r>
                          <a:r>
                            <a:rPr lang="en-US" altLang="zh-CN" sz="2400" dirty="0" err="1"/>
                            <a:t>argpartition</a:t>
                          </a:r>
                          <a:r>
                            <a:rPr lang="en-US" altLang="zh-CN" sz="2400" dirty="0"/>
                            <a:t>)</a:t>
                          </a:r>
                        </a:p>
                      </a:txBody>
                      <a:tcPr marL="114617" marR="114617" marT="76517" marB="76517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/>
              <p:nvPr>
                <p:extLst>
                  <p:ext uri="{D42A27DB-BD31-4B8C-83A1-F6EECF244321}">
                    <p14:modId xmlns:p14="http://schemas.microsoft.com/office/powerpoint/2010/main" val="1780127246"/>
                  </p:ext>
                </p:extLst>
              </p:nvPr>
            </p:nvGraphicFramePr>
            <p:xfrm>
              <a:off x="467360" y="2139315"/>
              <a:ext cx="11259820" cy="1683382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495040"/>
                    <a:gridCol w="3126740"/>
                    <a:gridCol w="4638040"/>
                  </a:tblGrid>
                  <a:tr h="518794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Method</a:t>
                          </a:r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/>
                            <a:t>Time Complexity</a:t>
                          </a:r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Key Optimization</a:t>
                          </a:r>
                        </a:p>
                      </a:txBody>
                      <a:tcPr marL="114617" marR="114617" marT="76517" marB="76517" anchor="ctr"/>
                    </a:tc>
                  </a:tr>
                  <a:tr h="582294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 err="1" smtClean="0"/>
                            <a:t>AKS</a:t>
                          </a:r>
                          <a:r>
                            <a:rPr lang="en-US" altLang="zh-CN" sz="2400" dirty="0" smtClean="0"/>
                            <a:t>(original)</a:t>
                          </a:r>
                          <a:endParaRPr lang="en-US" altLang="zh-CN" sz="2400" dirty="0"/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617" marR="114617" marT="76517" marB="76517" anchor="ctr">
                        <a:blipFill rotWithShape="0">
                          <a:blip r:embed="rId3"/>
                          <a:stretch>
                            <a:fillRect l="-111891" t="-91667" r="-148538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Repeated sorting in recursion</a:t>
                          </a:r>
                        </a:p>
                      </a:txBody>
                      <a:tcPr marL="114617" marR="114617" marT="76517" marB="76517" anchor="ctr"/>
                    </a:tc>
                  </a:tr>
                  <a:tr h="582294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 err="1" smtClean="0"/>
                            <a:t>MAKS</a:t>
                          </a:r>
                          <a:r>
                            <a:rPr lang="en-US" altLang="zh-CN" sz="2400" dirty="0" smtClean="0"/>
                            <a:t>(optimized)</a:t>
                          </a:r>
                          <a:endParaRPr lang="en-US" altLang="zh-CN" sz="2400" dirty="0"/>
                        </a:p>
                      </a:txBody>
                      <a:tcPr marL="114617" marR="114617" marT="76517" marB="76517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617" marR="114617" marT="76517" marB="76517" anchor="ctr">
                        <a:blipFill rotWithShape="0">
                          <a:blip r:embed="rId3"/>
                          <a:stretch>
                            <a:fillRect l="-111891" t="-191667" r="-14853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100000"/>
                            </a:lnSpc>
                          </a:pPr>
                          <a:r>
                            <a:rPr lang="en-US" altLang="zh-CN" sz="2400" dirty="0"/>
                            <a:t>Partial sorting (</a:t>
                          </a:r>
                          <a:r>
                            <a:rPr lang="en-US" altLang="zh-CN" sz="2400" dirty="0" err="1"/>
                            <a:t>argpartition</a:t>
                          </a:r>
                          <a:r>
                            <a:rPr lang="en-US" altLang="zh-CN" sz="2400" dirty="0"/>
                            <a:t>)</a:t>
                          </a:r>
                        </a:p>
                      </a:txBody>
                      <a:tcPr marL="114617" marR="114617" marT="76517" marB="76517" anchor="ctr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 descr="7b0a202020202262756c6c6574223a20227b5c2263617465676f727949645c223a5c225c222c5c2274656d706c61746549645c223a32303233313537397d220a7d0a"/>
              <p:cNvSpPr txBox="1"/>
              <p:nvPr/>
            </p:nvSpPr>
            <p:spPr>
              <a:xfrm>
                <a:off x="726440" y="4576445"/>
                <a:ext cx="11231880" cy="1061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0" fontAlgn="auto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/>
                  <a:buBlip>
                    <a:blip r:embed="rId4"/>
                  </a:buBlip>
                </a:pPr>
                <a:r>
                  <a:rPr lang="en-US" altLang="zh-CN" sz="2800" b="0" i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Reduction</a:t>
                </a:r>
                <a:r>
                  <a:rPr lang="en-US" altLang="zh-CN" sz="2800" b="0" i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: From 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𝑂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charset="0"/>
                          </a:rPr>
                          <m:t>∙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𝑙𝑜𝑔𝑛</m:t>
                        </m:r>
                      </m:e>
                    </m:d>
                  </m:oMath>
                </a14:m>
                <a:r>
                  <a:rPr lang="en-US" altLang="zh-CN" sz="2800" b="0" i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 to</a:t>
                </a:r>
                <a:r>
                  <a:rPr lang="en-US" altLang="zh-CN" sz="2800" b="0" i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𝑂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800" b="0" i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0" i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per segment via partial </a:t>
                </a:r>
                <a:r>
                  <a:rPr lang="en-US" altLang="zh-CN" sz="2800" b="0" i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sorting.</a:t>
                </a:r>
                <a:endParaRPr lang="en-US" altLang="zh-CN" sz="2800" b="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</a:endParaRPr>
              </a:p>
              <a:p>
                <a:pPr indent="0" fontAlgn="auto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/>
                  <a:buBlip>
                    <a:blip r:embed="rId4"/>
                  </a:buBlip>
                </a:pPr>
                <a:r>
                  <a:rPr lang="en-US" altLang="zh-CN" sz="2800" b="0" i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Benefit</a:t>
                </a:r>
                <a:r>
                  <a:rPr lang="en-US" altLang="zh-CN" sz="2800" b="0" i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: Scalability for long videos (e.g., 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charset="0"/>
                        <a:ea typeface="Inter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  <a:ea typeface="Inter"/>
                        <a:cs typeface="Cambria Math" panose="02040503050406030204" charset="0"/>
                      </a:rPr>
                      <m:t>&gt;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Inter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Inter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Inter"/>
                            <a:cs typeface="Cambria Math" panose="0204050305040603020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zh-CN" sz="2800" b="0" i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</a:rPr>
                  <a:t> frames).</a:t>
                </a:r>
              </a:p>
            </p:txBody>
          </p:sp>
        </mc:Choice>
        <mc:Fallback xmlns="">
          <p:sp>
            <p:nvSpPr>
              <p:cNvPr id="6" name="文本框 5" descr="7b0a202020202262756c6c6574223a20227b5c2263617465676f727949645c223a5c225c222c5c2274656d706c61746549645c223a32303233313537397d220a7d0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40" y="4576445"/>
                <a:ext cx="11231880" cy="1061573"/>
              </a:xfrm>
              <a:prstGeom prst="rect">
                <a:avLst/>
              </a:prstGeom>
              <a:blipFill rotWithShape="0">
                <a:blip r:embed="rId5"/>
                <a:stretch>
                  <a:fillRect t="-6322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56955" y="992389"/>
            <a:ext cx="11735435" cy="21852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Mixed Videos Synthesis</a:t>
            </a:r>
            <a:endParaRPr lang="en-US" altLang="zh-CN" sz="3200" dirty="0" smtClean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2800" dirty="0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Synthetic 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videos with embedded </a:t>
            </a:r>
            <a:r>
              <a:rPr lang="en-US" altLang="zh-CN" sz="2800" dirty="0" smtClean="0">
                <a:cs typeface="Times New Roman" panose="02020603050405020304" pitchFamily="18" charset="0"/>
                <a:sym typeface="+mn-ea"/>
              </a:rPr>
              <a:t>Benign-Malignant-Benign (B-M-B) </a:t>
            </a:r>
            <a:r>
              <a:rPr lang="en-US" altLang="zh-CN" sz="2800" dirty="0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structure.</a:t>
            </a:r>
          </a:p>
          <a:p>
            <a:r>
              <a:rPr lang="en-US" altLang="zh-CN" sz="2800" dirty="0" smtClean="0">
                <a:cs typeface="Times New Roman" panose="02020603050405020304" pitchFamily="18" charset="0"/>
                <a:sym typeface="+mn-ea"/>
              </a:rPr>
              <a:t>Based on videos in </a:t>
            </a:r>
            <a:r>
              <a:rPr lang="en-US" altLang="zh-CN" sz="2800" b="1" dirty="0" smtClean="0">
                <a:cs typeface="Times New Roman" panose="02020603050405020304" pitchFamily="18" charset="0"/>
                <a:sym typeface="+mn-ea"/>
              </a:rPr>
              <a:t>XD-</a:t>
            </a:r>
            <a:r>
              <a:rPr lang="en-US" altLang="zh-CN" sz="2800" b="1" dirty="0" err="1" smtClean="0">
                <a:cs typeface="Times New Roman" panose="02020603050405020304" pitchFamily="18" charset="0"/>
                <a:sym typeface="+mn-ea"/>
              </a:rPr>
              <a:t>Violence</a:t>
            </a:r>
            <a:r>
              <a:rPr lang="en-US" altLang="zh-CN" sz="2800" b="1" baseline="30000" dirty="0" err="1" smtClean="0"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800" dirty="0" smtClean="0">
                <a:cs typeface="Times New Roman" panose="02020603050405020304" pitchFamily="18" charset="0"/>
                <a:sym typeface="+mn-ea"/>
              </a:rPr>
              <a:t> &amp; </a:t>
            </a:r>
            <a:r>
              <a:rPr lang="en-US" altLang="zh-CN" sz="2800" b="1" dirty="0" err="1" smtClean="0">
                <a:cs typeface="Times New Roman" panose="02020603050405020304" pitchFamily="18" charset="0"/>
                <a:sym typeface="+mn-ea"/>
              </a:rPr>
              <a:t>LongVideoBench</a:t>
            </a:r>
            <a:r>
              <a:rPr lang="en-US" altLang="zh-CN" sz="2800" b="1" baseline="30000" dirty="0" err="1" smtClean="0"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z="2800" dirty="0" smtClean="0">
                <a:cs typeface="Times New Roman" panose="02020603050405020304" pitchFamily="18" charset="0"/>
                <a:sym typeface="+mn-ea"/>
              </a:rPr>
              <a:t>.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►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Malignant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  <a:sym typeface="+mn-ea"/>
              </a:rPr>
              <a:t>segment (M) starts at 50% or 75% of video timeline .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►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Total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dataset: ~120 videos and 480 different QAs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.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206375" y="1740535"/>
            <a:ext cx="0" cy="1732280"/>
          </a:xfrm>
          <a:prstGeom prst="line">
            <a:avLst/>
          </a:prstGeom>
          <a:ln>
            <a:gradFill>
              <a:gsLst>
                <a:gs pos="0">
                  <a:srgbClr val="C71C01">
                    <a:alpha val="0"/>
                  </a:srgbClr>
                </a:gs>
                <a:gs pos="50000">
                  <a:srgbClr val="C71C01"/>
                </a:gs>
                <a:gs pos="100000">
                  <a:srgbClr val="C71C0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13" y="3337016"/>
            <a:ext cx="10513449" cy="325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Experiment Results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489585" y="1069794"/>
            <a:ext cx="1127633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cs typeface="Times New Roman" panose="02020603050405020304" pitchFamily="18" charset="0"/>
                <a:sym typeface="+mn-ea"/>
              </a:rPr>
              <a:t>Metrics</a:t>
            </a:r>
            <a:endParaRPr lang="en-US" altLang="zh-CN" sz="3200" b="0" i="0" dirty="0" smtClean="0">
              <a:solidFill>
                <a:srgbClr val="000000"/>
              </a:solidFill>
              <a:latin typeface="Times New Roman" panose="02020603050405020304" pitchFamily="18" charset="0"/>
              <a:ea typeface="PingFang SC" panose="020B0400000000000000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800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Frames Quality</a:t>
            </a:r>
            <a:r>
              <a:rPr lang="en-US" altLang="zh-CN" sz="28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: Frames Counts, Different Entries, Average Overlap.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sz="2800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QA Accuracy</a:t>
            </a:r>
            <a:r>
              <a:rPr lang="en-US" altLang="zh-CN" sz="28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: </a:t>
            </a:r>
            <a:r>
              <a:rPr lang="en-US" altLang="zh-CN" sz="2800" b="0" i="0" dirty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Coverage of correct answers in video segments</a:t>
            </a:r>
            <a:r>
              <a:rPr lang="en-US" altLang="zh-CN" sz="28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PingFang SC" panose="020B0400000000000000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6235" y="1607185"/>
            <a:ext cx="0" cy="1732280"/>
          </a:xfrm>
          <a:prstGeom prst="line">
            <a:avLst/>
          </a:prstGeom>
          <a:ln>
            <a:gradFill>
              <a:gsLst>
                <a:gs pos="0">
                  <a:srgbClr val="C71C01">
                    <a:alpha val="0"/>
                  </a:srgbClr>
                </a:gs>
                <a:gs pos="50000">
                  <a:srgbClr val="C71C01"/>
                </a:gs>
                <a:gs pos="100000">
                  <a:srgbClr val="C71C0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97"/>
          <a:stretch/>
        </p:blipFill>
        <p:spPr>
          <a:xfrm>
            <a:off x="2346227" y="3218698"/>
            <a:ext cx="6822891" cy="109309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89585" y="2633923"/>
            <a:ext cx="50658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cs typeface="Times New Roman" panose="02020603050405020304" pitchFamily="18" charset="0"/>
                <a:sym typeface="+mn-ea"/>
              </a:rPr>
              <a:t>Results on </a:t>
            </a:r>
            <a:r>
              <a:rPr lang="en-US" altLang="zh-CN" sz="3200" b="1" dirty="0" err="1" smtClean="0">
                <a:cs typeface="Times New Roman" panose="02020603050405020304" pitchFamily="18" charset="0"/>
                <a:sym typeface="+mn-ea"/>
              </a:rPr>
              <a:t>MiniCPM</a:t>
            </a:r>
            <a:r>
              <a:rPr lang="en-US" altLang="zh-CN" sz="3200" b="1" dirty="0" smtClean="0">
                <a:cs typeface="Times New Roman" panose="02020603050405020304" pitchFamily="18" charset="0"/>
                <a:sym typeface="+mn-ea"/>
              </a:rPr>
              <a:t>-V-2.6</a:t>
            </a:r>
            <a:r>
              <a:rPr lang="en-US" altLang="zh-CN" sz="3200" b="1" baseline="30000" dirty="0" smtClean="0"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3200" baseline="30000" dirty="0"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References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81832" y="1249680"/>
            <a:ext cx="116460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[1] Xiao </a:t>
            </a:r>
            <a:r>
              <a:rPr lang="en-US" altLang="zh-CN" dirty="0"/>
              <a:t>Tang, </a:t>
            </a:r>
            <a:r>
              <a:rPr lang="en-US" altLang="zh-CN" dirty="0" err="1"/>
              <a:t>Jiabin</a:t>
            </a:r>
            <a:r>
              <a:rPr lang="en-US" altLang="zh-CN" dirty="0"/>
              <a:t> </a:t>
            </a:r>
            <a:r>
              <a:rPr lang="en-US" altLang="zh-CN" dirty="0" err="1"/>
              <a:t>Qiu</a:t>
            </a:r>
            <a:r>
              <a:rPr lang="en-US" altLang="zh-CN" dirty="0"/>
              <a:t>, </a:t>
            </a:r>
            <a:r>
              <a:rPr lang="en-US" altLang="zh-CN" dirty="0" err="1"/>
              <a:t>Liangjian</a:t>
            </a:r>
            <a:r>
              <a:rPr lang="en-US" altLang="zh-CN" dirty="0"/>
              <a:t> </a:t>
            </a:r>
            <a:r>
              <a:rPr lang="en-US" altLang="zh-CN" dirty="0" err="1"/>
              <a:t>Xie</a:t>
            </a:r>
            <a:r>
              <a:rPr lang="en-US" altLang="zh-CN" dirty="0"/>
              <a:t>, Ying Tian, </a:t>
            </a:r>
            <a:r>
              <a:rPr lang="en-US" altLang="zh-CN" dirty="0" err="1" smtClean="0"/>
              <a:t>Jianfeng</a:t>
            </a:r>
            <a:r>
              <a:rPr lang="en-US" altLang="zh-CN" dirty="0" smtClean="0"/>
              <a:t> Jiao</a:t>
            </a:r>
            <a:r>
              <a:rPr lang="en-US" altLang="zh-CN" dirty="0"/>
              <a:t>, and </a:t>
            </a:r>
            <a:r>
              <a:rPr lang="en-US" altLang="zh-CN" dirty="0" err="1"/>
              <a:t>Qixiang</a:t>
            </a:r>
            <a:r>
              <a:rPr lang="en-US" altLang="zh-CN" dirty="0"/>
              <a:t> Ye. Adaptive </a:t>
            </a:r>
            <a:r>
              <a:rPr lang="en-US" altLang="zh-CN" dirty="0" err="1"/>
              <a:t>keyframe</a:t>
            </a:r>
            <a:r>
              <a:rPr lang="en-US" altLang="zh-CN" dirty="0"/>
              <a:t> sampling </a:t>
            </a:r>
            <a:r>
              <a:rPr lang="en-US" altLang="zh-CN" dirty="0" smtClean="0"/>
              <a:t>for long </a:t>
            </a:r>
            <a:r>
              <a:rPr lang="en-US" altLang="zh-CN" dirty="0"/>
              <a:t>video understanding. </a:t>
            </a:r>
            <a:r>
              <a:rPr lang="en-US" altLang="zh-CN" i="1" dirty="0" err="1"/>
              <a:t>arXiv</a:t>
            </a:r>
            <a:r>
              <a:rPr lang="en-US" altLang="zh-CN" i="1" dirty="0"/>
              <a:t> preprint </a:t>
            </a:r>
            <a:r>
              <a:rPr lang="en-US" altLang="zh-CN" i="1" dirty="0" err="1" smtClean="0"/>
              <a:t>arXiv:2502.21271</a:t>
            </a:r>
            <a:r>
              <a:rPr lang="en-US" altLang="zh-CN" dirty="0" smtClean="0"/>
              <a:t>, 2025</a:t>
            </a:r>
            <a:r>
              <a:rPr lang="en-US" altLang="zh-CN" dirty="0"/>
              <a:t>. 1, </a:t>
            </a:r>
            <a:r>
              <a:rPr lang="en-US" altLang="zh-CN" dirty="0" smtClean="0"/>
              <a:t>2</a:t>
            </a:r>
          </a:p>
          <a:p>
            <a:endParaRPr lang="it-IT" altLang="zh-CN" dirty="0" smtClean="0"/>
          </a:p>
          <a:p>
            <a:r>
              <a:rPr lang="it-IT" altLang="zh-CN" dirty="0" smtClean="0"/>
              <a:t>[2] Ha </a:t>
            </a:r>
            <a:r>
              <a:rPr lang="it-IT" altLang="zh-CN" dirty="0"/>
              <a:t>Duong Nguyen. Xd-violence video dataset. https</a:t>
            </a:r>
            <a:r>
              <a:rPr lang="it-IT" altLang="zh-CN" dirty="0" smtClean="0"/>
              <a:t>://</a:t>
            </a:r>
            <a:r>
              <a:rPr lang="it-IT" altLang="zh-CN" dirty="0"/>
              <a:t>www.kaggle.com/datasets/nguhaduong/xdviolence-video-dataset, 2021. Accessed: </a:t>
            </a:r>
            <a:r>
              <a:rPr lang="it-IT" altLang="zh-CN" dirty="0" smtClean="0"/>
              <a:t>2025-05-29</a:t>
            </a:r>
            <a:r>
              <a:rPr lang="it-IT" altLang="zh-CN" dirty="0"/>
              <a:t>. 4 </a:t>
            </a:r>
            <a:br>
              <a:rPr lang="it-IT" altLang="zh-CN" dirty="0"/>
            </a:br>
            <a:endParaRPr lang="it-IT" altLang="zh-CN" dirty="0" smtClean="0"/>
          </a:p>
          <a:p>
            <a:r>
              <a:rPr lang="it-IT" altLang="zh-CN" dirty="0" smtClean="0"/>
              <a:t>[3] Haoning </a:t>
            </a:r>
            <a:r>
              <a:rPr lang="it-IT" altLang="zh-CN" dirty="0"/>
              <a:t>Wu, Dongxu Li, Bei Chen, and Junnan </a:t>
            </a:r>
            <a:r>
              <a:rPr lang="it-IT" altLang="zh-CN" dirty="0" smtClean="0"/>
              <a:t>Li. Longvideobench</a:t>
            </a:r>
            <a:r>
              <a:rPr lang="it-IT" altLang="zh-CN" dirty="0"/>
              <a:t>: A benchmark for long-context interleaved video-language understanding. arXiv </a:t>
            </a:r>
            <a:r>
              <a:rPr lang="it-IT" altLang="zh-CN" dirty="0" smtClean="0"/>
              <a:t>preprint arXiv:2407.15754, 2024. 4</a:t>
            </a:r>
          </a:p>
          <a:p>
            <a:endParaRPr lang="it-IT" altLang="zh-CN" dirty="0" smtClean="0"/>
          </a:p>
          <a:p>
            <a:r>
              <a:rPr lang="en-US" altLang="zh-CN" dirty="0" smtClean="0"/>
              <a:t>[4] </a:t>
            </a:r>
            <a:r>
              <a:rPr lang="en-US" altLang="zh-CN" dirty="0" err="1" smtClean="0"/>
              <a:t>OpenBMB</a:t>
            </a:r>
            <a:r>
              <a:rPr lang="en-US" altLang="zh-CN" dirty="0"/>
              <a:t>. </a:t>
            </a:r>
            <a:r>
              <a:rPr lang="en-US" altLang="zh-CN" dirty="0" err="1"/>
              <a:t>Minicpm</a:t>
            </a:r>
            <a:r>
              <a:rPr lang="en-US" altLang="zh-CN" dirty="0"/>
              <a:t>-v 2.6. https://</a:t>
            </a:r>
            <a:r>
              <a:rPr lang="en-US" altLang="zh-CN" dirty="0" err="1" smtClean="0"/>
              <a:t>huggingface.co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openbmb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MiniCPM</a:t>
            </a:r>
            <a:r>
              <a:rPr lang="en-US" altLang="zh-CN" dirty="0" smtClean="0"/>
              <a:t>-V-2_6</a:t>
            </a:r>
            <a:r>
              <a:rPr lang="en-US" altLang="zh-CN" dirty="0"/>
              <a:t>, 2024. Accessed: </a:t>
            </a:r>
            <a:r>
              <a:rPr lang="en-US" altLang="zh-CN" dirty="0" smtClean="0"/>
              <a:t>2025-05-30</a:t>
            </a:r>
            <a:r>
              <a:rPr lang="en-US" altLang="zh-CN" dirty="0"/>
              <a:t>. 4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4848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康帅1"/>
          <p:cNvSpPr/>
          <p:nvPr/>
        </p:nvSpPr>
        <p:spPr>
          <a:xfrm>
            <a:off x="0" y="1308101"/>
            <a:ext cx="12192000" cy="3749674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Bold" panose="020B0800000000000000" pitchFamily="34" charset="-122"/>
            </a:endParaRPr>
          </a:p>
        </p:txBody>
      </p:sp>
      <p:sp>
        <p:nvSpPr>
          <p:cNvPr id="9" name="康帅2"/>
          <p:cNvSpPr/>
          <p:nvPr/>
        </p:nvSpPr>
        <p:spPr>
          <a:xfrm>
            <a:off x="0" y="1385871"/>
            <a:ext cx="12192000" cy="3594133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Bold" panose="020B0800000000000000" pitchFamily="34" charset="-122"/>
            </a:endParaRPr>
          </a:p>
        </p:txBody>
      </p:sp>
      <p:sp>
        <p:nvSpPr>
          <p:cNvPr id="11" name="康帅4"/>
          <p:cNvSpPr/>
          <p:nvPr/>
        </p:nvSpPr>
        <p:spPr bwMode="auto">
          <a:xfrm>
            <a:off x="9382961" y="2776965"/>
            <a:ext cx="1142108" cy="792466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rgbClr val="9A0000"/>
          </a:solidFill>
          <a:ln w="2921" cap="flat">
            <a:noFill/>
            <a:prstDash val="solid"/>
            <a:miter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Bold" panose="020B0800000000000000" pitchFamily="34" charset="-122"/>
            </a:endParaRPr>
          </a:p>
        </p:txBody>
      </p:sp>
      <p:grpSp>
        <p:nvGrpSpPr>
          <p:cNvPr id="12" name="康帅5"/>
          <p:cNvGrpSpPr>
            <a:grpSpLocks noChangeAspect="1"/>
          </p:cNvGrpSpPr>
          <p:nvPr/>
        </p:nvGrpSpPr>
        <p:grpSpPr bwMode="auto">
          <a:xfrm>
            <a:off x="8351025" y="1588437"/>
            <a:ext cx="3106032" cy="3113637"/>
            <a:chOff x="1247" y="-15"/>
            <a:chExt cx="3263" cy="3271"/>
          </a:xfrm>
          <a:solidFill>
            <a:srgbClr val="9A0000"/>
          </a:solidFill>
        </p:grpSpPr>
        <p:sp>
          <p:nvSpPr>
            <p:cNvPr id="14" name="康帅5-1"/>
            <p:cNvSpPr/>
            <p:nvPr/>
          </p:nvSpPr>
          <p:spPr bwMode="auto">
            <a:xfrm>
              <a:off x="1722" y="1892"/>
              <a:ext cx="207" cy="199"/>
            </a:xfrm>
            <a:custGeom>
              <a:avLst/>
              <a:gdLst>
                <a:gd name="T0" fmla="*/ 104 w 207"/>
                <a:gd name="T1" fmla="*/ 0 h 199"/>
                <a:gd name="T2" fmla="*/ 136 w 207"/>
                <a:gd name="T3" fmla="*/ 66 h 199"/>
                <a:gd name="T4" fmla="*/ 207 w 207"/>
                <a:gd name="T5" fmla="*/ 77 h 199"/>
                <a:gd name="T6" fmla="*/ 157 w 207"/>
                <a:gd name="T7" fmla="*/ 126 h 199"/>
                <a:gd name="T8" fmla="*/ 169 w 207"/>
                <a:gd name="T9" fmla="*/ 199 h 199"/>
                <a:gd name="T10" fmla="*/ 104 w 207"/>
                <a:gd name="T11" fmla="*/ 165 h 199"/>
                <a:gd name="T12" fmla="*/ 41 w 207"/>
                <a:gd name="T13" fmla="*/ 199 h 199"/>
                <a:gd name="T14" fmla="*/ 52 w 207"/>
                <a:gd name="T15" fmla="*/ 126 h 199"/>
                <a:gd name="T16" fmla="*/ 0 w 207"/>
                <a:gd name="T17" fmla="*/ 77 h 199"/>
                <a:gd name="T18" fmla="*/ 72 w 207"/>
                <a:gd name="T19" fmla="*/ 66 h 199"/>
                <a:gd name="T20" fmla="*/ 104 w 207"/>
                <a:gd name="T21" fmla="*/ 0 h 199"/>
                <a:gd name="T22" fmla="*/ 104 w 207"/>
                <a:gd name="T23" fmla="*/ 0 h 199"/>
                <a:gd name="T24" fmla="*/ 104 w 207"/>
                <a:gd name="T25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199">
                  <a:moveTo>
                    <a:pt x="104" y="0"/>
                  </a:moveTo>
                  <a:lnTo>
                    <a:pt x="136" y="66"/>
                  </a:lnTo>
                  <a:lnTo>
                    <a:pt x="207" y="77"/>
                  </a:lnTo>
                  <a:lnTo>
                    <a:pt x="157" y="126"/>
                  </a:lnTo>
                  <a:lnTo>
                    <a:pt x="169" y="199"/>
                  </a:lnTo>
                  <a:lnTo>
                    <a:pt x="104" y="165"/>
                  </a:lnTo>
                  <a:lnTo>
                    <a:pt x="41" y="199"/>
                  </a:lnTo>
                  <a:lnTo>
                    <a:pt x="52" y="126"/>
                  </a:lnTo>
                  <a:lnTo>
                    <a:pt x="0" y="77"/>
                  </a:lnTo>
                  <a:lnTo>
                    <a:pt x="72" y="66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15" name="康帅5-2"/>
            <p:cNvSpPr/>
            <p:nvPr/>
          </p:nvSpPr>
          <p:spPr bwMode="auto">
            <a:xfrm>
              <a:off x="3779" y="1892"/>
              <a:ext cx="207" cy="199"/>
            </a:xfrm>
            <a:custGeom>
              <a:avLst/>
              <a:gdLst>
                <a:gd name="T0" fmla="*/ 105 w 207"/>
                <a:gd name="T1" fmla="*/ 0 h 199"/>
                <a:gd name="T2" fmla="*/ 136 w 207"/>
                <a:gd name="T3" fmla="*/ 66 h 199"/>
                <a:gd name="T4" fmla="*/ 207 w 207"/>
                <a:gd name="T5" fmla="*/ 77 h 199"/>
                <a:gd name="T6" fmla="*/ 157 w 207"/>
                <a:gd name="T7" fmla="*/ 126 h 199"/>
                <a:gd name="T8" fmla="*/ 170 w 207"/>
                <a:gd name="T9" fmla="*/ 199 h 199"/>
                <a:gd name="T10" fmla="*/ 105 w 207"/>
                <a:gd name="T11" fmla="*/ 165 h 199"/>
                <a:gd name="T12" fmla="*/ 41 w 207"/>
                <a:gd name="T13" fmla="*/ 199 h 199"/>
                <a:gd name="T14" fmla="*/ 52 w 207"/>
                <a:gd name="T15" fmla="*/ 126 h 199"/>
                <a:gd name="T16" fmla="*/ 0 w 207"/>
                <a:gd name="T17" fmla="*/ 77 h 199"/>
                <a:gd name="T18" fmla="*/ 72 w 207"/>
                <a:gd name="T19" fmla="*/ 66 h 199"/>
                <a:gd name="T20" fmla="*/ 105 w 207"/>
                <a:gd name="T21" fmla="*/ 0 h 199"/>
                <a:gd name="T22" fmla="*/ 105 w 207"/>
                <a:gd name="T23" fmla="*/ 0 h 199"/>
                <a:gd name="T24" fmla="*/ 105 w 207"/>
                <a:gd name="T25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199">
                  <a:moveTo>
                    <a:pt x="105" y="0"/>
                  </a:moveTo>
                  <a:lnTo>
                    <a:pt x="136" y="66"/>
                  </a:lnTo>
                  <a:lnTo>
                    <a:pt x="207" y="77"/>
                  </a:lnTo>
                  <a:lnTo>
                    <a:pt x="157" y="126"/>
                  </a:lnTo>
                  <a:lnTo>
                    <a:pt x="170" y="199"/>
                  </a:lnTo>
                  <a:lnTo>
                    <a:pt x="105" y="165"/>
                  </a:lnTo>
                  <a:lnTo>
                    <a:pt x="41" y="199"/>
                  </a:lnTo>
                  <a:lnTo>
                    <a:pt x="52" y="126"/>
                  </a:lnTo>
                  <a:lnTo>
                    <a:pt x="0" y="77"/>
                  </a:lnTo>
                  <a:lnTo>
                    <a:pt x="72" y="66"/>
                  </a:lnTo>
                  <a:lnTo>
                    <a:pt x="105" y="0"/>
                  </a:lnTo>
                  <a:lnTo>
                    <a:pt x="105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16" name="康帅5-3"/>
            <p:cNvSpPr>
              <a:spLocks noEditPoints="1"/>
            </p:cNvSpPr>
            <p:nvPr/>
          </p:nvSpPr>
          <p:spPr bwMode="auto">
            <a:xfrm>
              <a:off x="1247" y="-15"/>
              <a:ext cx="3263" cy="3271"/>
            </a:xfrm>
            <a:custGeom>
              <a:avLst/>
              <a:gdLst>
                <a:gd name="T0" fmla="*/ 2378 w 2411"/>
                <a:gd name="T1" fmla="*/ 1061 h 2417"/>
                <a:gd name="T2" fmla="*/ 2354 w 2411"/>
                <a:gd name="T3" fmla="*/ 1453 h 2417"/>
                <a:gd name="T4" fmla="*/ 2203 w 2411"/>
                <a:gd name="T5" fmla="*/ 1825 h 2417"/>
                <a:gd name="T6" fmla="*/ 1932 w 2411"/>
                <a:gd name="T7" fmla="*/ 2133 h 2417"/>
                <a:gd name="T8" fmla="*/ 1575 w 2411"/>
                <a:gd name="T9" fmla="*/ 2325 h 2417"/>
                <a:gd name="T10" fmla="*/ 1169 w 2411"/>
                <a:gd name="T11" fmla="*/ 2387 h 2417"/>
                <a:gd name="T12" fmla="*/ 771 w 2411"/>
                <a:gd name="T13" fmla="*/ 2302 h 2417"/>
                <a:gd name="T14" fmla="*/ 432 w 2411"/>
                <a:gd name="T15" fmla="*/ 2089 h 2417"/>
                <a:gd name="T16" fmla="*/ 176 w 2411"/>
                <a:gd name="T17" fmla="*/ 1768 h 2417"/>
                <a:gd name="T18" fmla="*/ 49 w 2411"/>
                <a:gd name="T19" fmla="*/ 1383 h 2417"/>
                <a:gd name="T20" fmla="*/ 59 w 2411"/>
                <a:gd name="T21" fmla="*/ 973 h 2417"/>
                <a:gd name="T22" fmla="*/ 210 w 2411"/>
                <a:gd name="T23" fmla="*/ 585 h 2417"/>
                <a:gd name="T24" fmla="*/ 484 w 2411"/>
                <a:gd name="T25" fmla="*/ 278 h 2417"/>
                <a:gd name="T26" fmla="*/ 844 w 2411"/>
                <a:gd name="T27" fmla="*/ 87 h 2417"/>
                <a:gd name="T28" fmla="*/ 1247 w 2411"/>
                <a:gd name="T29" fmla="*/ 31 h 2417"/>
                <a:gd name="T30" fmla="*/ 1644 w 2411"/>
                <a:gd name="T31" fmla="*/ 115 h 2417"/>
                <a:gd name="T32" fmla="*/ 1988 w 2411"/>
                <a:gd name="T33" fmla="*/ 331 h 2417"/>
                <a:gd name="T34" fmla="*/ 2242 w 2411"/>
                <a:gd name="T35" fmla="*/ 655 h 2417"/>
                <a:gd name="T36" fmla="*/ 2250 w 2411"/>
                <a:gd name="T37" fmla="*/ 785 h 2417"/>
                <a:gd name="T38" fmla="*/ 2050 w 2411"/>
                <a:gd name="T39" fmla="*/ 488 h 2417"/>
                <a:gd name="T40" fmla="*/ 1752 w 2411"/>
                <a:gd name="T41" fmla="*/ 240 h 2417"/>
                <a:gd name="T42" fmla="*/ 1393 w 2411"/>
                <a:gd name="T43" fmla="*/ 113 h 2417"/>
                <a:gd name="T44" fmla="*/ 1007 w 2411"/>
                <a:gd name="T45" fmla="*/ 115 h 2417"/>
                <a:gd name="T46" fmla="*/ 650 w 2411"/>
                <a:gd name="T47" fmla="*/ 249 h 2417"/>
                <a:gd name="T48" fmla="*/ 356 w 2411"/>
                <a:gd name="T49" fmla="*/ 499 h 2417"/>
                <a:gd name="T50" fmla="*/ 169 w 2411"/>
                <a:gd name="T51" fmla="*/ 831 h 2417"/>
                <a:gd name="T52" fmla="*/ 102 w 2411"/>
                <a:gd name="T53" fmla="*/ 1210 h 2417"/>
                <a:gd name="T54" fmla="*/ 168 w 2411"/>
                <a:gd name="T55" fmla="*/ 1589 h 2417"/>
                <a:gd name="T56" fmla="*/ 362 w 2411"/>
                <a:gd name="T57" fmla="*/ 1928 h 2417"/>
                <a:gd name="T58" fmla="*/ 658 w 2411"/>
                <a:gd name="T59" fmla="*/ 2176 h 2417"/>
                <a:gd name="T60" fmla="*/ 1017 w 2411"/>
                <a:gd name="T61" fmla="*/ 2303 h 2417"/>
                <a:gd name="T62" fmla="*/ 1404 w 2411"/>
                <a:gd name="T63" fmla="*/ 2303 h 2417"/>
                <a:gd name="T64" fmla="*/ 1766 w 2411"/>
                <a:gd name="T65" fmla="*/ 2170 h 2417"/>
                <a:gd name="T66" fmla="*/ 2065 w 2411"/>
                <a:gd name="T67" fmla="*/ 1916 h 2417"/>
                <a:gd name="T68" fmla="*/ 2253 w 2411"/>
                <a:gd name="T69" fmla="*/ 1577 h 2417"/>
                <a:gd name="T70" fmla="*/ 2314 w 2411"/>
                <a:gd name="T71" fmla="*/ 1196 h 2417"/>
                <a:gd name="T72" fmla="*/ 2250 w 2411"/>
                <a:gd name="T73" fmla="*/ 785 h 2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11" h="2417">
                  <a:moveTo>
                    <a:pt x="2317" y="808"/>
                  </a:moveTo>
                  <a:cubicBezTo>
                    <a:pt x="2298" y="899"/>
                    <a:pt x="2323" y="981"/>
                    <a:pt x="2378" y="1061"/>
                  </a:cubicBezTo>
                  <a:cubicBezTo>
                    <a:pt x="2411" y="1110"/>
                    <a:pt x="2411" y="1169"/>
                    <a:pt x="2382" y="1222"/>
                  </a:cubicBezTo>
                  <a:cubicBezTo>
                    <a:pt x="2342" y="1296"/>
                    <a:pt x="2334" y="1371"/>
                    <a:pt x="2354" y="1453"/>
                  </a:cubicBezTo>
                  <a:cubicBezTo>
                    <a:pt x="2371" y="1523"/>
                    <a:pt x="2353" y="1585"/>
                    <a:pt x="2297" y="1635"/>
                  </a:cubicBezTo>
                  <a:cubicBezTo>
                    <a:pt x="2241" y="1685"/>
                    <a:pt x="2209" y="1749"/>
                    <a:pt x="2203" y="1825"/>
                  </a:cubicBezTo>
                  <a:cubicBezTo>
                    <a:pt x="2198" y="1900"/>
                    <a:pt x="2159" y="1954"/>
                    <a:pt x="2089" y="1983"/>
                  </a:cubicBezTo>
                  <a:cubicBezTo>
                    <a:pt x="2016" y="2012"/>
                    <a:pt x="1964" y="2062"/>
                    <a:pt x="1932" y="2133"/>
                  </a:cubicBezTo>
                  <a:cubicBezTo>
                    <a:pt x="1901" y="2200"/>
                    <a:pt x="1848" y="2236"/>
                    <a:pt x="1774" y="2239"/>
                  </a:cubicBezTo>
                  <a:cubicBezTo>
                    <a:pt x="1695" y="2242"/>
                    <a:pt x="1630" y="2270"/>
                    <a:pt x="1575" y="2325"/>
                  </a:cubicBezTo>
                  <a:cubicBezTo>
                    <a:pt x="1523" y="2379"/>
                    <a:pt x="1461" y="2395"/>
                    <a:pt x="1391" y="2372"/>
                  </a:cubicBezTo>
                  <a:cubicBezTo>
                    <a:pt x="1314" y="2347"/>
                    <a:pt x="1241" y="2352"/>
                    <a:pt x="1169" y="2387"/>
                  </a:cubicBezTo>
                  <a:cubicBezTo>
                    <a:pt x="1104" y="2417"/>
                    <a:pt x="1041" y="2410"/>
                    <a:pt x="984" y="2366"/>
                  </a:cubicBezTo>
                  <a:cubicBezTo>
                    <a:pt x="921" y="2316"/>
                    <a:pt x="851" y="2295"/>
                    <a:pt x="771" y="2302"/>
                  </a:cubicBezTo>
                  <a:cubicBezTo>
                    <a:pt x="695" y="2308"/>
                    <a:pt x="638" y="2277"/>
                    <a:pt x="598" y="2212"/>
                  </a:cubicBezTo>
                  <a:cubicBezTo>
                    <a:pt x="559" y="2150"/>
                    <a:pt x="504" y="2108"/>
                    <a:pt x="432" y="2089"/>
                  </a:cubicBezTo>
                  <a:cubicBezTo>
                    <a:pt x="356" y="2069"/>
                    <a:pt x="310" y="2022"/>
                    <a:pt x="294" y="1944"/>
                  </a:cubicBezTo>
                  <a:cubicBezTo>
                    <a:pt x="278" y="1870"/>
                    <a:pt x="239" y="1811"/>
                    <a:pt x="176" y="1768"/>
                  </a:cubicBezTo>
                  <a:cubicBezTo>
                    <a:pt x="114" y="1725"/>
                    <a:pt x="88" y="1665"/>
                    <a:pt x="98" y="1590"/>
                  </a:cubicBezTo>
                  <a:cubicBezTo>
                    <a:pt x="109" y="1514"/>
                    <a:pt x="93" y="1445"/>
                    <a:pt x="49" y="1383"/>
                  </a:cubicBezTo>
                  <a:cubicBezTo>
                    <a:pt x="4" y="1319"/>
                    <a:pt x="0" y="1253"/>
                    <a:pt x="37" y="1184"/>
                  </a:cubicBezTo>
                  <a:cubicBezTo>
                    <a:pt x="72" y="1116"/>
                    <a:pt x="80" y="1046"/>
                    <a:pt x="59" y="973"/>
                  </a:cubicBezTo>
                  <a:cubicBezTo>
                    <a:pt x="38" y="899"/>
                    <a:pt x="58" y="837"/>
                    <a:pt x="114" y="786"/>
                  </a:cubicBezTo>
                  <a:cubicBezTo>
                    <a:pt x="173" y="732"/>
                    <a:pt x="204" y="665"/>
                    <a:pt x="210" y="585"/>
                  </a:cubicBezTo>
                  <a:cubicBezTo>
                    <a:pt x="216" y="516"/>
                    <a:pt x="253" y="465"/>
                    <a:pt x="316" y="439"/>
                  </a:cubicBezTo>
                  <a:cubicBezTo>
                    <a:pt x="394" y="407"/>
                    <a:pt x="449" y="355"/>
                    <a:pt x="484" y="278"/>
                  </a:cubicBezTo>
                  <a:cubicBezTo>
                    <a:pt x="513" y="216"/>
                    <a:pt x="566" y="182"/>
                    <a:pt x="636" y="179"/>
                  </a:cubicBezTo>
                  <a:cubicBezTo>
                    <a:pt x="718" y="177"/>
                    <a:pt x="786" y="146"/>
                    <a:pt x="844" y="87"/>
                  </a:cubicBezTo>
                  <a:cubicBezTo>
                    <a:pt x="892" y="38"/>
                    <a:pt x="953" y="24"/>
                    <a:pt x="1019" y="45"/>
                  </a:cubicBezTo>
                  <a:cubicBezTo>
                    <a:pt x="1097" y="70"/>
                    <a:pt x="1172" y="66"/>
                    <a:pt x="1247" y="31"/>
                  </a:cubicBezTo>
                  <a:cubicBezTo>
                    <a:pt x="1309" y="0"/>
                    <a:pt x="1371" y="8"/>
                    <a:pt x="1425" y="50"/>
                  </a:cubicBezTo>
                  <a:cubicBezTo>
                    <a:pt x="1491" y="101"/>
                    <a:pt x="1562" y="123"/>
                    <a:pt x="1644" y="115"/>
                  </a:cubicBezTo>
                  <a:cubicBezTo>
                    <a:pt x="1715" y="108"/>
                    <a:pt x="1771" y="138"/>
                    <a:pt x="1810" y="199"/>
                  </a:cubicBezTo>
                  <a:cubicBezTo>
                    <a:pt x="1852" y="267"/>
                    <a:pt x="1910" y="311"/>
                    <a:pt x="1988" y="331"/>
                  </a:cubicBezTo>
                  <a:cubicBezTo>
                    <a:pt x="2057" y="349"/>
                    <a:pt x="2102" y="395"/>
                    <a:pt x="2116" y="465"/>
                  </a:cubicBezTo>
                  <a:cubicBezTo>
                    <a:pt x="2133" y="545"/>
                    <a:pt x="2174" y="608"/>
                    <a:pt x="2242" y="655"/>
                  </a:cubicBezTo>
                  <a:cubicBezTo>
                    <a:pt x="2294" y="690"/>
                    <a:pt x="2316" y="742"/>
                    <a:pt x="2317" y="808"/>
                  </a:cubicBezTo>
                  <a:close/>
                  <a:moveTo>
                    <a:pt x="2250" y="785"/>
                  </a:moveTo>
                  <a:cubicBezTo>
                    <a:pt x="2237" y="767"/>
                    <a:pt x="2219" y="729"/>
                    <a:pt x="2191" y="707"/>
                  </a:cubicBezTo>
                  <a:cubicBezTo>
                    <a:pt x="2119" y="648"/>
                    <a:pt x="2068" y="579"/>
                    <a:pt x="2050" y="488"/>
                  </a:cubicBezTo>
                  <a:cubicBezTo>
                    <a:pt x="2040" y="440"/>
                    <a:pt x="2013" y="409"/>
                    <a:pt x="1966" y="397"/>
                  </a:cubicBezTo>
                  <a:cubicBezTo>
                    <a:pt x="1874" y="374"/>
                    <a:pt x="1803" y="321"/>
                    <a:pt x="1752" y="240"/>
                  </a:cubicBezTo>
                  <a:cubicBezTo>
                    <a:pt x="1727" y="199"/>
                    <a:pt x="1691" y="181"/>
                    <a:pt x="1643" y="186"/>
                  </a:cubicBezTo>
                  <a:cubicBezTo>
                    <a:pt x="1550" y="195"/>
                    <a:pt x="1466" y="170"/>
                    <a:pt x="1393" y="113"/>
                  </a:cubicBezTo>
                  <a:cubicBezTo>
                    <a:pt x="1353" y="82"/>
                    <a:pt x="1312" y="77"/>
                    <a:pt x="1266" y="99"/>
                  </a:cubicBezTo>
                  <a:cubicBezTo>
                    <a:pt x="1182" y="138"/>
                    <a:pt x="1095" y="144"/>
                    <a:pt x="1007" y="115"/>
                  </a:cubicBezTo>
                  <a:cubicBezTo>
                    <a:pt x="959" y="99"/>
                    <a:pt x="919" y="110"/>
                    <a:pt x="883" y="146"/>
                  </a:cubicBezTo>
                  <a:cubicBezTo>
                    <a:pt x="820" y="212"/>
                    <a:pt x="740" y="246"/>
                    <a:pt x="650" y="249"/>
                  </a:cubicBezTo>
                  <a:cubicBezTo>
                    <a:pt x="596" y="251"/>
                    <a:pt x="562" y="275"/>
                    <a:pt x="540" y="323"/>
                  </a:cubicBezTo>
                  <a:cubicBezTo>
                    <a:pt x="502" y="405"/>
                    <a:pt x="440" y="465"/>
                    <a:pt x="356" y="499"/>
                  </a:cubicBezTo>
                  <a:cubicBezTo>
                    <a:pt x="305" y="519"/>
                    <a:pt x="281" y="554"/>
                    <a:pt x="277" y="606"/>
                  </a:cubicBezTo>
                  <a:cubicBezTo>
                    <a:pt x="271" y="695"/>
                    <a:pt x="234" y="771"/>
                    <a:pt x="169" y="831"/>
                  </a:cubicBezTo>
                  <a:cubicBezTo>
                    <a:pt x="126" y="869"/>
                    <a:pt x="115" y="911"/>
                    <a:pt x="130" y="966"/>
                  </a:cubicBezTo>
                  <a:cubicBezTo>
                    <a:pt x="152" y="1050"/>
                    <a:pt x="144" y="1133"/>
                    <a:pt x="102" y="1210"/>
                  </a:cubicBezTo>
                  <a:cubicBezTo>
                    <a:pt x="76" y="1258"/>
                    <a:pt x="77" y="1301"/>
                    <a:pt x="109" y="1346"/>
                  </a:cubicBezTo>
                  <a:cubicBezTo>
                    <a:pt x="161" y="1419"/>
                    <a:pt x="181" y="1501"/>
                    <a:pt x="168" y="1589"/>
                  </a:cubicBezTo>
                  <a:cubicBezTo>
                    <a:pt x="161" y="1643"/>
                    <a:pt x="177" y="1683"/>
                    <a:pt x="222" y="1715"/>
                  </a:cubicBezTo>
                  <a:cubicBezTo>
                    <a:pt x="297" y="1767"/>
                    <a:pt x="344" y="1839"/>
                    <a:pt x="362" y="1928"/>
                  </a:cubicBezTo>
                  <a:cubicBezTo>
                    <a:pt x="372" y="1978"/>
                    <a:pt x="400" y="2008"/>
                    <a:pt x="449" y="2021"/>
                  </a:cubicBezTo>
                  <a:cubicBezTo>
                    <a:pt x="539" y="2044"/>
                    <a:pt x="609" y="2096"/>
                    <a:pt x="658" y="2176"/>
                  </a:cubicBezTo>
                  <a:cubicBezTo>
                    <a:pt x="685" y="2219"/>
                    <a:pt x="722" y="2238"/>
                    <a:pt x="773" y="2232"/>
                  </a:cubicBezTo>
                  <a:cubicBezTo>
                    <a:pt x="864" y="2223"/>
                    <a:pt x="946" y="2247"/>
                    <a:pt x="1017" y="2303"/>
                  </a:cubicBezTo>
                  <a:cubicBezTo>
                    <a:pt x="1059" y="2336"/>
                    <a:pt x="1101" y="2341"/>
                    <a:pt x="1149" y="2319"/>
                  </a:cubicBezTo>
                  <a:cubicBezTo>
                    <a:pt x="1232" y="2280"/>
                    <a:pt x="1317" y="2275"/>
                    <a:pt x="1404" y="2303"/>
                  </a:cubicBezTo>
                  <a:cubicBezTo>
                    <a:pt x="1452" y="2318"/>
                    <a:pt x="1492" y="2310"/>
                    <a:pt x="1528" y="2273"/>
                  </a:cubicBezTo>
                  <a:cubicBezTo>
                    <a:pt x="1593" y="2207"/>
                    <a:pt x="1672" y="2172"/>
                    <a:pt x="1766" y="2170"/>
                  </a:cubicBezTo>
                  <a:cubicBezTo>
                    <a:pt x="1814" y="2168"/>
                    <a:pt x="1848" y="2147"/>
                    <a:pt x="1868" y="2103"/>
                  </a:cubicBezTo>
                  <a:cubicBezTo>
                    <a:pt x="1909" y="2014"/>
                    <a:pt x="1974" y="1952"/>
                    <a:pt x="2065" y="1916"/>
                  </a:cubicBezTo>
                  <a:cubicBezTo>
                    <a:pt x="2106" y="1900"/>
                    <a:pt x="2128" y="1869"/>
                    <a:pt x="2132" y="1825"/>
                  </a:cubicBezTo>
                  <a:cubicBezTo>
                    <a:pt x="2140" y="1727"/>
                    <a:pt x="2183" y="1647"/>
                    <a:pt x="2253" y="1577"/>
                  </a:cubicBezTo>
                  <a:cubicBezTo>
                    <a:pt x="2276" y="1553"/>
                    <a:pt x="2291" y="1502"/>
                    <a:pt x="2284" y="1470"/>
                  </a:cubicBezTo>
                  <a:cubicBezTo>
                    <a:pt x="2262" y="1373"/>
                    <a:pt x="2274" y="1285"/>
                    <a:pt x="2314" y="1196"/>
                  </a:cubicBezTo>
                  <a:cubicBezTo>
                    <a:pt x="2327" y="1165"/>
                    <a:pt x="2328" y="1116"/>
                    <a:pt x="2311" y="1089"/>
                  </a:cubicBezTo>
                  <a:cubicBezTo>
                    <a:pt x="2255" y="1001"/>
                    <a:pt x="2228" y="909"/>
                    <a:pt x="2250" y="785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17" name="康帅5-4"/>
            <p:cNvSpPr/>
            <p:nvPr/>
          </p:nvSpPr>
          <p:spPr bwMode="auto">
            <a:xfrm>
              <a:off x="3318" y="2439"/>
              <a:ext cx="327" cy="222"/>
            </a:xfrm>
            <a:custGeom>
              <a:avLst/>
              <a:gdLst>
                <a:gd name="T0" fmla="*/ 77 w 242"/>
                <a:gd name="T1" fmla="*/ 122 h 164"/>
                <a:gd name="T2" fmla="*/ 104 w 242"/>
                <a:gd name="T3" fmla="*/ 82 h 164"/>
                <a:gd name="T4" fmla="*/ 112 w 242"/>
                <a:gd name="T5" fmla="*/ 88 h 164"/>
                <a:gd name="T6" fmla="*/ 92 w 242"/>
                <a:gd name="T7" fmla="*/ 119 h 164"/>
                <a:gd name="T8" fmla="*/ 242 w 242"/>
                <a:gd name="T9" fmla="*/ 124 h 164"/>
                <a:gd name="T10" fmla="*/ 161 w 242"/>
                <a:gd name="T11" fmla="*/ 161 h 164"/>
                <a:gd name="T12" fmla="*/ 99 w 242"/>
                <a:gd name="T13" fmla="*/ 153 h 164"/>
                <a:gd name="T14" fmla="*/ 38 w 242"/>
                <a:gd name="T15" fmla="*/ 164 h 164"/>
                <a:gd name="T16" fmla="*/ 29 w 242"/>
                <a:gd name="T17" fmla="*/ 126 h 164"/>
                <a:gd name="T18" fmla="*/ 32 w 242"/>
                <a:gd name="T19" fmla="*/ 0 h 164"/>
                <a:gd name="T20" fmla="*/ 77 w 242"/>
                <a:gd name="T21" fmla="*/ 12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164">
                  <a:moveTo>
                    <a:pt x="77" y="122"/>
                  </a:moveTo>
                  <a:cubicBezTo>
                    <a:pt x="86" y="109"/>
                    <a:pt x="95" y="96"/>
                    <a:pt x="104" y="82"/>
                  </a:cubicBezTo>
                  <a:cubicBezTo>
                    <a:pt x="107" y="84"/>
                    <a:pt x="109" y="86"/>
                    <a:pt x="112" y="88"/>
                  </a:cubicBezTo>
                  <a:cubicBezTo>
                    <a:pt x="107" y="95"/>
                    <a:pt x="102" y="103"/>
                    <a:pt x="92" y="119"/>
                  </a:cubicBezTo>
                  <a:cubicBezTo>
                    <a:pt x="148" y="90"/>
                    <a:pt x="193" y="98"/>
                    <a:pt x="242" y="124"/>
                  </a:cubicBezTo>
                  <a:cubicBezTo>
                    <a:pt x="218" y="148"/>
                    <a:pt x="192" y="161"/>
                    <a:pt x="161" y="161"/>
                  </a:cubicBezTo>
                  <a:cubicBezTo>
                    <a:pt x="140" y="161"/>
                    <a:pt x="118" y="160"/>
                    <a:pt x="99" y="153"/>
                  </a:cubicBezTo>
                  <a:cubicBezTo>
                    <a:pt x="73" y="143"/>
                    <a:pt x="53" y="143"/>
                    <a:pt x="38" y="164"/>
                  </a:cubicBezTo>
                  <a:cubicBezTo>
                    <a:pt x="35" y="151"/>
                    <a:pt x="36" y="137"/>
                    <a:pt x="29" y="126"/>
                  </a:cubicBezTo>
                  <a:cubicBezTo>
                    <a:pt x="0" y="75"/>
                    <a:pt x="0" y="46"/>
                    <a:pt x="32" y="0"/>
                  </a:cubicBezTo>
                  <a:cubicBezTo>
                    <a:pt x="72" y="14"/>
                    <a:pt x="85" y="53"/>
                    <a:pt x="77" y="122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18" name="康帅5-5"/>
            <p:cNvSpPr/>
            <p:nvPr/>
          </p:nvSpPr>
          <p:spPr bwMode="auto">
            <a:xfrm>
              <a:off x="3417" y="2308"/>
              <a:ext cx="339" cy="217"/>
            </a:xfrm>
            <a:custGeom>
              <a:avLst/>
              <a:gdLst>
                <a:gd name="T0" fmla="*/ 251 w 251"/>
                <a:gd name="T1" fmla="*/ 92 h 161"/>
                <a:gd name="T2" fmla="*/ 65 w 251"/>
                <a:gd name="T3" fmla="*/ 138 h 161"/>
                <a:gd name="T4" fmla="*/ 29 w 251"/>
                <a:gd name="T5" fmla="*/ 0 h 161"/>
                <a:gd name="T6" fmla="*/ 87 w 251"/>
                <a:gd name="T7" fmla="*/ 118 h 161"/>
                <a:gd name="T8" fmla="*/ 251 w 251"/>
                <a:gd name="T9" fmla="*/ 9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161">
                  <a:moveTo>
                    <a:pt x="251" y="92"/>
                  </a:moveTo>
                  <a:cubicBezTo>
                    <a:pt x="205" y="161"/>
                    <a:pt x="133" y="134"/>
                    <a:pt x="65" y="138"/>
                  </a:cubicBezTo>
                  <a:cubicBezTo>
                    <a:pt x="8" y="81"/>
                    <a:pt x="0" y="53"/>
                    <a:pt x="29" y="0"/>
                  </a:cubicBezTo>
                  <a:cubicBezTo>
                    <a:pt x="75" y="19"/>
                    <a:pt x="90" y="48"/>
                    <a:pt x="87" y="118"/>
                  </a:cubicBezTo>
                  <a:cubicBezTo>
                    <a:pt x="139" y="83"/>
                    <a:pt x="191" y="61"/>
                    <a:pt x="251" y="92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19" name="康帅5-6"/>
            <p:cNvSpPr/>
            <p:nvPr/>
          </p:nvSpPr>
          <p:spPr bwMode="auto">
            <a:xfrm>
              <a:off x="3561" y="2259"/>
              <a:ext cx="114" cy="141"/>
            </a:xfrm>
            <a:custGeom>
              <a:avLst/>
              <a:gdLst>
                <a:gd name="T0" fmla="*/ 17 w 84"/>
                <a:gd name="T1" fmla="*/ 104 h 104"/>
                <a:gd name="T2" fmla="*/ 66 w 84"/>
                <a:gd name="T3" fmla="*/ 0 h 104"/>
                <a:gd name="T4" fmla="*/ 17 w 84"/>
                <a:gd name="T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04">
                  <a:moveTo>
                    <a:pt x="17" y="104"/>
                  </a:moveTo>
                  <a:cubicBezTo>
                    <a:pt x="0" y="56"/>
                    <a:pt x="17" y="22"/>
                    <a:pt x="66" y="0"/>
                  </a:cubicBezTo>
                  <a:cubicBezTo>
                    <a:pt x="84" y="48"/>
                    <a:pt x="73" y="74"/>
                    <a:pt x="17" y="104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20" name="康帅5-7"/>
            <p:cNvSpPr/>
            <p:nvPr/>
          </p:nvSpPr>
          <p:spPr bwMode="auto">
            <a:xfrm>
              <a:off x="2161" y="2439"/>
              <a:ext cx="329" cy="222"/>
            </a:xfrm>
            <a:custGeom>
              <a:avLst/>
              <a:gdLst>
                <a:gd name="T0" fmla="*/ 166 w 243"/>
                <a:gd name="T1" fmla="*/ 122 h 164"/>
                <a:gd name="T2" fmla="*/ 138 w 243"/>
                <a:gd name="T3" fmla="*/ 82 h 164"/>
                <a:gd name="T4" fmla="*/ 131 w 243"/>
                <a:gd name="T5" fmla="*/ 88 h 164"/>
                <a:gd name="T6" fmla="*/ 151 w 243"/>
                <a:gd name="T7" fmla="*/ 119 h 164"/>
                <a:gd name="T8" fmla="*/ 0 w 243"/>
                <a:gd name="T9" fmla="*/ 124 h 164"/>
                <a:gd name="T10" fmla="*/ 82 w 243"/>
                <a:gd name="T11" fmla="*/ 161 h 164"/>
                <a:gd name="T12" fmla="*/ 144 w 243"/>
                <a:gd name="T13" fmla="*/ 153 h 164"/>
                <a:gd name="T14" fmla="*/ 205 w 243"/>
                <a:gd name="T15" fmla="*/ 164 h 164"/>
                <a:gd name="T16" fmla="*/ 213 w 243"/>
                <a:gd name="T17" fmla="*/ 126 h 164"/>
                <a:gd name="T18" fmla="*/ 210 w 243"/>
                <a:gd name="T19" fmla="*/ 0 h 164"/>
                <a:gd name="T20" fmla="*/ 166 w 243"/>
                <a:gd name="T21" fmla="*/ 12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" h="164">
                  <a:moveTo>
                    <a:pt x="166" y="122"/>
                  </a:moveTo>
                  <a:cubicBezTo>
                    <a:pt x="156" y="109"/>
                    <a:pt x="147" y="96"/>
                    <a:pt x="138" y="82"/>
                  </a:cubicBezTo>
                  <a:cubicBezTo>
                    <a:pt x="136" y="84"/>
                    <a:pt x="134" y="86"/>
                    <a:pt x="131" y="88"/>
                  </a:cubicBezTo>
                  <a:cubicBezTo>
                    <a:pt x="136" y="95"/>
                    <a:pt x="140" y="103"/>
                    <a:pt x="151" y="119"/>
                  </a:cubicBezTo>
                  <a:cubicBezTo>
                    <a:pt x="95" y="90"/>
                    <a:pt x="50" y="98"/>
                    <a:pt x="0" y="124"/>
                  </a:cubicBezTo>
                  <a:cubicBezTo>
                    <a:pt x="24" y="148"/>
                    <a:pt x="51" y="161"/>
                    <a:pt x="82" y="161"/>
                  </a:cubicBezTo>
                  <a:cubicBezTo>
                    <a:pt x="102" y="161"/>
                    <a:pt x="124" y="160"/>
                    <a:pt x="144" y="153"/>
                  </a:cubicBezTo>
                  <a:cubicBezTo>
                    <a:pt x="169" y="143"/>
                    <a:pt x="190" y="143"/>
                    <a:pt x="205" y="164"/>
                  </a:cubicBezTo>
                  <a:cubicBezTo>
                    <a:pt x="207" y="151"/>
                    <a:pt x="207" y="137"/>
                    <a:pt x="213" y="126"/>
                  </a:cubicBezTo>
                  <a:cubicBezTo>
                    <a:pt x="243" y="75"/>
                    <a:pt x="243" y="46"/>
                    <a:pt x="210" y="0"/>
                  </a:cubicBezTo>
                  <a:cubicBezTo>
                    <a:pt x="170" y="14"/>
                    <a:pt x="157" y="53"/>
                    <a:pt x="166" y="122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21" name="康帅5-8"/>
            <p:cNvSpPr/>
            <p:nvPr/>
          </p:nvSpPr>
          <p:spPr bwMode="auto">
            <a:xfrm>
              <a:off x="2051" y="2308"/>
              <a:ext cx="340" cy="217"/>
            </a:xfrm>
            <a:custGeom>
              <a:avLst/>
              <a:gdLst>
                <a:gd name="T0" fmla="*/ 0 w 251"/>
                <a:gd name="T1" fmla="*/ 92 h 161"/>
                <a:gd name="T2" fmla="*/ 186 w 251"/>
                <a:gd name="T3" fmla="*/ 138 h 161"/>
                <a:gd name="T4" fmla="*/ 222 w 251"/>
                <a:gd name="T5" fmla="*/ 0 h 161"/>
                <a:gd name="T6" fmla="*/ 164 w 251"/>
                <a:gd name="T7" fmla="*/ 118 h 161"/>
                <a:gd name="T8" fmla="*/ 0 w 251"/>
                <a:gd name="T9" fmla="*/ 9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161">
                  <a:moveTo>
                    <a:pt x="0" y="92"/>
                  </a:moveTo>
                  <a:cubicBezTo>
                    <a:pt x="45" y="161"/>
                    <a:pt x="118" y="134"/>
                    <a:pt x="186" y="138"/>
                  </a:cubicBezTo>
                  <a:cubicBezTo>
                    <a:pt x="243" y="81"/>
                    <a:pt x="251" y="53"/>
                    <a:pt x="222" y="0"/>
                  </a:cubicBezTo>
                  <a:cubicBezTo>
                    <a:pt x="175" y="19"/>
                    <a:pt x="160" y="48"/>
                    <a:pt x="164" y="118"/>
                  </a:cubicBezTo>
                  <a:cubicBezTo>
                    <a:pt x="112" y="83"/>
                    <a:pt x="60" y="61"/>
                    <a:pt x="0" y="92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24" name="康帅5-9"/>
            <p:cNvSpPr/>
            <p:nvPr/>
          </p:nvSpPr>
          <p:spPr bwMode="auto">
            <a:xfrm>
              <a:off x="2132" y="2259"/>
              <a:ext cx="113" cy="141"/>
            </a:xfrm>
            <a:custGeom>
              <a:avLst/>
              <a:gdLst>
                <a:gd name="T0" fmla="*/ 66 w 83"/>
                <a:gd name="T1" fmla="*/ 104 h 104"/>
                <a:gd name="T2" fmla="*/ 18 w 83"/>
                <a:gd name="T3" fmla="*/ 0 h 104"/>
                <a:gd name="T4" fmla="*/ 66 w 83"/>
                <a:gd name="T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04">
                  <a:moveTo>
                    <a:pt x="66" y="104"/>
                  </a:moveTo>
                  <a:cubicBezTo>
                    <a:pt x="83" y="56"/>
                    <a:pt x="67" y="22"/>
                    <a:pt x="18" y="0"/>
                  </a:cubicBezTo>
                  <a:cubicBezTo>
                    <a:pt x="0" y="48"/>
                    <a:pt x="11" y="74"/>
                    <a:pt x="66" y="104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康帅5-10"/>
            <p:cNvSpPr>
              <a:spLocks noEditPoints="1"/>
            </p:cNvSpPr>
            <p:nvPr/>
          </p:nvSpPr>
          <p:spPr bwMode="auto">
            <a:xfrm>
              <a:off x="1383" y="115"/>
              <a:ext cx="3004" cy="3013"/>
            </a:xfrm>
            <a:custGeom>
              <a:avLst/>
              <a:gdLst>
                <a:gd name="T0" fmla="*/ 96 w 2220"/>
                <a:gd name="T1" fmla="*/ 1479 h 2226"/>
                <a:gd name="T2" fmla="*/ 31 w 2220"/>
                <a:gd name="T3" fmla="*/ 1240 h 2226"/>
                <a:gd name="T4" fmla="*/ 22 w 2220"/>
                <a:gd name="T5" fmla="*/ 1129 h 2226"/>
                <a:gd name="T6" fmla="*/ 52 w 2220"/>
                <a:gd name="T7" fmla="*/ 860 h 2226"/>
                <a:gd name="T8" fmla="*/ 83 w 2220"/>
                <a:gd name="T9" fmla="*/ 753 h 2226"/>
                <a:gd name="T10" fmla="*/ 206 w 2220"/>
                <a:gd name="T11" fmla="*/ 505 h 2226"/>
                <a:gd name="T12" fmla="*/ 260 w 2220"/>
                <a:gd name="T13" fmla="*/ 428 h 2226"/>
                <a:gd name="T14" fmla="*/ 469 w 2220"/>
                <a:gd name="T15" fmla="*/ 229 h 2226"/>
                <a:gd name="T16" fmla="*/ 547 w 2220"/>
                <a:gd name="T17" fmla="*/ 176 h 2226"/>
                <a:gd name="T18" fmla="*/ 810 w 2220"/>
                <a:gd name="T19" fmla="*/ 59 h 2226"/>
                <a:gd name="T20" fmla="*/ 902 w 2220"/>
                <a:gd name="T21" fmla="*/ 39 h 2226"/>
                <a:gd name="T22" fmla="*/ 1183 w 2220"/>
                <a:gd name="T23" fmla="*/ 18 h 2226"/>
                <a:gd name="T24" fmla="*/ 1283 w 2220"/>
                <a:gd name="T25" fmla="*/ 31 h 2226"/>
                <a:gd name="T26" fmla="*/ 1548 w 2220"/>
                <a:gd name="T27" fmla="*/ 110 h 2226"/>
                <a:gd name="T28" fmla="*/ 1639 w 2220"/>
                <a:gd name="T29" fmla="*/ 153 h 2226"/>
                <a:gd name="T30" fmla="*/ 1865 w 2220"/>
                <a:gd name="T31" fmla="*/ 321 h 2226"/>
                <a:gd name="T32" fmla="*/ 1934 w 2220"/>
                <a:gd name="T33" fmla="*/ 396 h 2226"/>
                <a:gd name="T34" fmla="*/ 2086 w 2220"/>
                <a:gd name="T35" fmla="*/ 626 h 2226"/>
                <a:gd name="T36" fmla="*/ 2128 w 2220"/>
                <a:gd name="T37" fmla="*/ 724 h 2226"/>
                <a:gd name="T38" fmla="*/ 2194 w 2220"/>
                <a:gd name="T39" fmla="*/ 998 h 2226"/>
                <a:gd name="T40" fmla="*/ 2200 w 2220"/>
                <a:gd name="T41" fmla="*/ 1093 h 2226"/>
                <a:gd name="T42" fmla="*/ 2168 w 2220"/>
                <a:gd name="T43" fmla="*/ 1379 h 2226"/>
                <a:gd name="T44" fmla="*/ 2140 w 2220"/>
                <a:gd name="T45" fmla="*/ 1470 h 2226"/>
                <a:gd name="T46" fmla="*/ 2018 w 2220"/>
                <a:gd name="T47" fmla="*/ 1723 h 2226"/>
                <a:gd name="T48" fmla="*/ 1958 w 2220"/>
                <a:gd name="T49" fmla="*/ 1805 h 2226"/>
                <a:gd name="T50" fmla="*/ 1757 w 2220"/>
                <a:gd name="T51" fmla="*/ 1996 h 2226"/>
                <a:gd name="T52" fmla="*/ 1669 w 2220"/>
                <a:gd name="T53" fmla="*/ 2055 h 2226"/>
                <a:gd name="T54" fmla="*/ 1421 w 2220"/>
                <a:gd name="T55" fmla="*/ 2163 h 2226"/>
                <a:gd name="T56" fmla="*/ 1314 w 2220"/>
                <a:gd name="T57" fmla="*/ 2190 h 2226"/>
                <a:gd name="T58" fmla="*/ 1049 w 2220"/>
                <a:gd name="T59" fmla="*/ 2206 h 2226"/>
                <a:gd name="T60" fmla="*/ 933 w 2220"/>
                <a:gd name="T61" fmla="*/ 2194 h 2226"/>
                <a:gd name="T62" fmla="*/ 679 w 2220"/>
                <a:gd name="T63" fmla="*/ 2118 h 2226"/>
                <a:gd name="T64" fmla="*/ 575 w 2220"/>
                <a:gd name="T65" fmla="*/ 2065 h 2226"/>
                <a:gd name="T66" fmla="*/ 366 w 2220"/>
                <a:gd name="T67" fmla="*/ 1910 h 2226"/>
                <a:gd name="T68" fmla="*/ 285 w 2220"/>
                <a:gd name="T69" fmla="*/ 1827 h 2226"/>
                <a:gd name="T70" fmla="*/ 160 w 2220"/>
                <a:gd name="T71" fmla="*/ 1622 h 2226"/>
                <a:gd name="T72" fmla="*/ 96 w 2220"/>
                <a:gd name="T73" fmla="*/ 1479 h 2226"/>
                <a:gd name="T74" fmla="*/ 1109 w 2220"/>
                <a:gd name="T75" fmla="*/ 2139 h 2226"/>
                <a:gd name="T76" fmla="*/ 1271 w 2220"/>
                <a:gd name="T77" fmla="*/ 2122 h 2226"/>
                <a:gd name="T78" fmla="*/ 2069 w 2220"/>
                <a:gd name="T79" fmla="*/ 851 h 2226"/>
                <a:gd name="T80" fmla="*/ 964 w 2220"/>
                <a:gd name="T81" fmla="*/ 103 h 2226"/>
                <a:gd name="T82" fmla="*/ 123 w 2220"/>
                <a:gd name="T83" fmla="*/ 1029 h 2226"/>
                <a:gd name="T84" fmla="*/ 1109 w 2220"/>
                <a:gd name="T85" fmla="*/ 2139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20" h="2226">
                  <a:moveTo>
                    <a:pt x="96" y="1479"/>
                  </a:moveTo>
                  <a:cubicBezTo>
                    <a:pt x="98" y="1387"/>
                    <a:pt x="79" y="1309"/>
                    <a:pt x="31" y="1240"/>
                  </a:cubicBezTo>
                  <a:cubicBezTo>
                    <a:pt x="4" y="1203"/>
                    <a:pt x="0" y="1170"/>
                    <a:pt x="22" y="1129"/>
                  </a:cubicBezTo>
                  <a:cubicBezTo>
                    <a:pt x="67" y="1044"/>
                    <a:pt x="76" y="953"/>
                    <a:pt x="52" y="860"/>
                  </a:cubicBezTo>
                  <a:cubicBezTo>
                    <a:pt x="42" y="817"/>
                    <a:pt x="50" y="784"/>
                    <a:pt x="83" y="753"/>
                  </a:cubicBezTo>
                  <a:cubicBezTo>
                    <a:pt x="155" y="686"/>
                    <a:pt x="192" y="602"/>
                    <a:pt x="206" y="505"/>
                  </a:cubicBezTo>
                  <a:cubicBezTo>
                    <a:pt x="210" y="476"/>
                    <a:pt x="235" y="440"/>
                    <a:pt x="260" y="428"/>
                  </a:cubicBezTo>
                  <a:cubicBezTo>
                    <a:pt x="353" y="383"/>
                    <a:pt x="420" y="318"/>
                    <a:pt x="469" y="229"/>
                  </a:cubicBezTo>
                  <a:cubicBezTo>
                    <a:pt x="482" y="203"/>
                    <a:pt x="519" y="178"/>
                    <a:pt x="547" y="176"/>
                  </a:cubicBezTo>
                  <a:cubicBezTo>
                    <a:pt x="649" y="166"/>
                    <a:pt x="734" y="128"/>
                    <a:pt x="810" y="59"/>
                  </a:cubicBezTo>
                  <a:cubicBezTo>
                    <a:pt x="831" y="41"/>
                    <a:pt x="875" y="32"/>
                    <a:pt x="902" y="39"/>
                  </a:cubicBezTo>
                  <a:cubicBezTo>
                    <a:pt x="999" y="64"/>
                    <a:pt x="1092" y="61"/>
                    <a:pt x="1183" y="18"/>
                  </a:cubicBezTo>
                  <a:cubicBezTo>
                    <a:pt x="1221" y="0"/>
                    <a:pt x="1251" y="6"/>
                    <a:pt x="1283" y="31"/>
                  </a:cubicBezTo>
                  <a:cubicBezTo>
                    <a:pt x="1361" y="92"/>
                    <a:pt x="1450" y="118"/>
                    <a:pt x="1548" y="110"/>
                  </a:cubicBezTo>
                  <a:cubicBezTo>
                    <a:pt x="1589" y="107"/>
                    <a:pt x="1617" y="119"/>
                    <a:pt x="1639" y="153"/>
                  </a:cubicBezTo>
                  <a:cubicBezTo>
                    <a:pt x="1693" y="239"/>
                    <a:pt x="1768" y="295"/>
                    <a:pt x="1865" y="321"/>
                  </a:cubicBezTo>
                  <a:cubicBezTo>
                    <a:pt x="1905" y="332"/>
                    <a:pt x="1925" y="356"/>
                    <a:pt x="1934" y="396"/>
                  </a:cubicBezTo>
                  <a:cubicBezTo>
                    <a:pt x="1955" y="492"/>
                    <a:pt x="2005" y="570"/>
                    <a:pt x="2086" y="626"/>
                  </a:cubicBezTo>
                  <a:cubicBezTo>
                    <a:pt x="2121" y="651"/>
                    <a:pt x="2133" y="681"/>
                    <a:pt x="2128" y="724"/>
                  </a:cubicBezTo>
                  <a:cubicBezTo>
                    <a:pt x="2116" y="824"/>
                    <a:pt x="2141" y="913"/>
                    <a:pt x="2194" y="998"/>
                  </a:cubicBezTo>
                  <a:cubicBezTo>
                    <a:pt x="2209" y="1022"/>
                    <a:pt x="2212" y="1067"/>
                    <a:pt x="2200" y="1093"/>
                  </a:cubicBezTo>
                  <a:cubicBezTo>
                    <a:pt x="2156" y="1186"/>
                    <a:pt x="2149" y="1279"/>
                    <a:pt x="2168" y="1379"/>
                  </a:cubicBezTo>
                  <a:cubicBezTo>
                    <a:pt x="2173" y="1407"/>
                    <a:pt x="2160" y="1449"/>
                    <a:pt x="2140" y="1470"/>
                  </a:cubicBezTo>
                  <a:cubicBezTo>
                    <a:pt x="2071" y="1542"/>
                    <a:pt x="2026" y="1623"/>
                    <a:pt x="2018" y="1723"/>
                  </a:cubicBezTo>
                  <a:cubicBezTo>
                    <a:pt x="2014" y="1763"/>
                    <a:pt x="1996" y="1790"/>
                    <a:pt x="1958" y="1805"/>
                  </a:cubicBezTo>
                  <a:cubicBezTo>
                    <a:pt x="1866" y="1843"/>
                    <a:pt x="1799" y="1907"/>
                    <a:pt x="1757" y="1996"/>
                  </a:cubicBezTo>
                  <a:cubicBezTo>
                    <a:pt x="1739" y="2035"/>
                    <a:pt x="1713" y="2053"/>
                    <a:pt x="1669" y="2055"/>
                  </a:cubicBezTo>
                  <a:cubicBezTo>
                    <a:pt x="1573" y="2059"/>
                    <a:pt x="1489" y="2095"/>
                    <a:pt x="1421" y="2163"/>
                  </a:cubicBezTo>
                  <a:cubicBezTo>
                    <a:pt x="1389" y="2195"/>
                    <a:pt x="1357" y="2205"/>
                    <a:pt x="1314" y="2190"/>
                  </a:cubicBezTo>
                  <a:cubicBezTo>
                    <a:pt x="1224" y="2160"/>
                    <a:pt x="1134" y="2166"/>
                    <a:pt x="1049" y="2206"/>
                  </a:cubicBezTo>
                  <a:cubicBezTo>
                    <a:pt x="1005" y="2226"/>
                    <a:pt x="971" y="2223"/>
                    <a:pt x="933" y="2194"/>
                  </a:cubicBezTo>
                  <a:cubicBezTo>
                    <a:pt x="859" y="2136"/>
                    <a:pt x="773" y="2110"/>
                    <a:pt x="679" y="2118"/>
                  </a:cubicBezTo>
                  <a:cubicBezTo>
                    <a:pt x="631" y="2122"/>
                    <a:pt x="600" y="2106"/>
                    <a:pt x="575" y="2065"/>
                  </a:cubicBezTo>
                  <a:cubicBezTo>
                    <a:pt x="526" y="1987"/>
                    <a:pt x="455" y="1934"/>
                    <a:pt x="366" y="1910"/>
                  </a:cubicBezTo>
                  <a:cubicBezTo>
                    <a:pt x="321" y="1897"/>
                    <a:pt x="296" y="1875"/>
                    <a:pt x="285" y="1827"/>
                  </a:cubicBezTo>
                  <a:cubicBezTo>
                    <a:pt x="269" y="1745"/>
                    <a:pt x="228" y="1671"/>
                    <a:pt x="160" y="1622"/>
                  </a:cubicBezTo>
                  <a:cubicBezTo>
                    <a:pt x="105" y="1582"/>
                    <a:pt x="76" y="1539"/>
                    <a:pt x="96" y="1479"/>
                  </a:cubicBezTo>
                  <a:close/>
                  <a:moveTo>
                    <a:pt x="1109" y="2139"/>
                  </a:moveTo>
                  <a:cubicBezTo>
                    <a:pt x="1163" y="2134"/>
                    <a:pt x="1218" y="2131"/>
                    <a:pt x="1271" y="2122"/>
                  </a:cubicBezTo>
                  <a:cubicBezTo>
                    <a:pt x="1851" y="2023"/>
                    <a:pt x="2220" y="1434"/>
                    <a:pt x="2069" y="851"/>
                  </a:cubicBezTo>
                  <a:cubicBezTo>
                    <a:pt x="1938" y="347"/>
                    <a:pt x="1469" y="30"/>
                    <a:pt x="964" y="103"/>
                  </a:cubicBezTo>
                  <a:cubicBezTo>
                    <a:pt x="514" y="168"/>
                    <a:pt x="168" y="550"/>
                    <a:pt x="123" y="1029"/>
                  </a:cubicBezTo>
                  <a:cubicBezTo>
                    <a:pt x="67" y="1615"/>
                    <a:pt x="530" y="2135"/>
                    <a:pt x="1109" y="2139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27" name="康帅5-11"/>
            <p:cNvSpPr>
              <a:spLocks noEditPoints="1"/>
            </p:cNvSpPr>
            <p:nvPr/>
          </p:nvSpPr>
          <p:spPr bwMode="auto">
            <a:xfrm>
              <a:off x="1577" y="318"/>
              <a:ext cx="2608" cy="2607"/>
            </a:xfrm>
            <a:custGeom>
              <a:avLst/>
              <a:gdLst>
                <a:gd name="T0" fmla="*/ 964 w 1927"/>
                <a:gd name="T1" fmla="*/ 1926 h 1926"/>
                <a:gd name="T2" fmla="*/ 1 w 1927"/>
                <a:gd name="T3" fmla="*/ 962 h 1926"/>
                <a:gd name="T4" fmla="*/ 967 w 1927"/>
                <a:gd name="T5" fmla="*/ 1 h 1926"/>
                <a:gd name="T6" fmla="*/ 1926 w 1927"/>
                <a:gd name="T7" fmla="*/ 963 h 1926"/>
                <a:gd name="T8" fmla="*/ 964 w 1927"/>
                <a:gd name="T9" fmla="*/ 1926 h 1926"/>
                <a:gd name="T10" fmla="*/ 962 w 1927"/>
                <a:gd name="T11" fmla="*/ 1903 h 1926"/>
                <a:gd name="T12" fmla="*/ 1902 w 1927"/>
                <a:gd name="T13" fmla="*/ 969 h 1926"/>
                <a:gd name="T14" fmla="*/ 968 w 1927"/>
                <a:gd name="T15" fmla="*/ 26 h 1926"/>
                <a:gd name="T16" fmla="*/ 25 w 1927"/>
                <a:gd name="T17" fmla="*/ 961 h 1926"/>
                <a:gd name="T18" fmla="*/ 962 w 1927"/>
                <a:gd name="T19" fmla="*/ 1903 h 1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7" h="1926">
                  <a:moveTo>
                    <a:pt x="964" y="1926"/>
                  </a:moveTo>
                  <a:cubicBezTo>
                    <a:pt x="433" y="1926"/>
                    <a:pt x="0" y="1493"/>
                    <a:pt x="1" y="962"/>
                  </a:cubicBezTo>
                  <a:cubicBezTo>
                    <a:pt x="2" y="432"/>
                    <a:pt x="436" y="0"/>
                    <a:pt x="967" y="1"/>
                  </a:cubicBezTo>
                  <a:cubicBezTo>
                    <a:pt x="1495" y="2"/>
                    <a:pt x="1926" y="433"/>
                    <a:pt x="1926" y="963"/>
                  </a:cubicBezTo>
                  <a:cubicBezTo>
                    <a:pt x="1927" y="1495"/>
                    <a:pt x="1496" y="1926"/>
                    <a:pt x="964" y="1926"/>
                  </a:cubicBezTo>
                  <a:close/>
                  <a:moveTo>
                    <a:pt x="962" y="1903"/>
                  </a:moveTo>
                  <a:cubicBezTo>
                    <a:pt x="1477" y="1904"/>
                    <a:pt x="1899" y="1485"/>
                    <a:pt x="1902" y="969"/>
                  </a:cubicBezTo>
                  <a:cubicBezTo>
                    <a:pt x="1904" y="450"/>
                    <a:pt x="1485" y="27"/>
                    <a:pt x="968" y="26"/>
                  </a:cubicBezTo>
                  <a:cubicBezTo>
                    <a:pt x="449" y="25"/>
                    <a:pt x="28" y="443"/>
                    <a:pt x="25" y="961"/>
                  </a:cubicBezTo>
                  <a:cubicBezTo>
                    <a:pt x="23" y="1477"/>
                    <a:pt x="445" y="1902"/>
                    <a:pt x="962" y="1903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28" name="康帅5-12"/>
            <p:cNvSpPr/>
            <p:nvPr/>
          </p:nvSpPr>
          <p:spPr bwMode="auto">
            <a:xfrm>
              <a:off x="1702" y="1676"/>
              <a:ext cx="256" cy="138"/>
            </a:xfrm>
            <a:custGeom>
              <a:avLst/>
              <a:gdLst>
                <a:gd name="T0" fmla="*/ 187 w 189"/>
                <a:gd name="T1" fmla="*/ 49 h 102"/>
                <a:gd name="T2" fmla="*/ 182 w 189"/>
                <a:gd name="T3" fmla="*/ 84 h 102"/>
                <a:gd name="T4" fmla="*/ 160 w 189"/>
                <a:gd name="T5" fmla="*/ 102 h 102"/>
                <a:gd name="T6" fmla="*/ 145 w 189"/>
                <a:gd name="T7" fmla="*/ 78 h 102"/>
                <a:gd name="T8" fmla="*/ 161 w 189"/>
                <a:gd name="T9" fmla="*/ 54 h 102"/>
                <a:gd name="T10" fmla="*/ 154 w 189"/>
                <a:gd name="T11" fmla="*/ 39 h 102"/>
                <a:gd name="T12" fmla="*/ 136 w 189"/>
                <a:gd name="T13" fmla="*/ 36 h 102"/>
                <a:gd name="T14" fmla="*/ 4 w 189"/>
                <a:gd name="T15" fmla="*/ 49 h 102"/>
                <a:gd name="T16" fmla="*/ 0 w 189"/>
                <a:gd name="T17" fmla="*/ 16 h 102"/>
                <a:gd name="T18" fmla="*/ 130 w 189"/>
                <a:gd name="T19" fmla="*/ 2 h 102"/>
                <a:gd name="T20" fmla="*/ 170 w 189"/>
                <a:gd name="T21" fmla="*/ 12 h 102"/>
                <a:gd name="T22" fmla="*/ 187 w 189"/>
                <a:gd name="T23" fmla="*/ 4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9" h="102">
                  <a:moveTo>
                    <a:pt x="187" y="49"/>
                  </a:moveTo>
                  <a:cubicBezTo>
                    <a:pt x="189" y="63"/>
                    <a:pt x="187" y="75"/>
                    <a:pt x="182" y="84"/>
                  </a:cubicBezTo>
                  <a:cubicBezTo>
                    <a:pt x="177" y="92"/>
                    <a:pt x="169" y="99"/>
                    <a:pt x="160" y="102"/>
                  </a:cubicBezTo>
                  <a:cubicBezTo>
                    <a:pt x="145" y="78"/>
                    <a:pt x="145" y="78"/>
                    <a:pt x="145" y="78"/>
                  </a:cubicBezTo>
                  <a:cubicBezTo>
                    <a:pt x="157" y="74"/>
                    <a:pt x="162" y="66"/>
                    <a:pt x="161" y="54"/>
                  </a:cubicBezTo>
                  <a:cubicBezTo>
                    <a:pt x="160" y="47"/>
                    <a:pt x="158" y="42"/>
                    <a:pt x="154" y="39"/>
                  </a:cubicBezTo>
                  <a:cubicBezTo>
                    <a:pt x="149" y="36"/>
                    <a:pt x="144" y="35"/>
                    <a:pt x="136" y="3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30" y="2"/>
                    <a:pt x="130" y="2"/>
                    <a:pt x="130" y="2"/>
                  </a:cubicBezTo>
                  <a:cubicBezTo>
                    <a:pt x="147" y="0"/>
                    <a:pt x="160" y="4"/>
                    <a:pt x="170" y="12"/>
                  </a:cubicBezTo>
                  <a:cubicBezTo>
                    <a:pt x="180" y="20"/>
                    <a:pt x="185" y="32"/>
                    <a:pt x="187" y="49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1" name="康帅5-13"/>
            <p:cNvSpPr/>
            <p:nvPr/>
          </p:nvSpPr>
          <p:spPr bwMode="auto">
            <a:xfrm>
              <a:off x="1702" y="1581"/>
              <a:ext cx="245" cy="54"/>
            </a:xfrm>
            <a:custGeom>
              <a:avLst/>
              <a:gdLst>
                <a:gd name="T0" fmla="*/ 1 w 245"/>
                <a:gd name="T1" fmla="*/ 0 h 54"/>
                <a:gd name="T2" fmla="*/ 245 w 245"/>
                <a:gd name="T3" fmla="*/ 8 h 54"/>
                <a:gd name="T4" fmla="*/ 244 w 245"/>
                <a:gd name="T5" fmla="*/ 54 h 54"/>
                <a:gd name="T6" fmla="*/ 0 w 245"/>
                <a:gd name="T7" fmla="*/ 46 h 54"/>
                <a:gd name="T8" fmla="*/ 1 w 245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54">
                  <a:moveTo>
                    <a:pt x="1" y="0"/>
                  </a:moveTo>
                  <a:lnTo>
                    <a:pt x="245" y="8"/>
                  </a:lnTo>
                  <a:lnTo>
                    <a:pt x="244" y="54"/>
                  </a:lnTo>
                  <a:lnTo>
                    <a:pt x="0" y="46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康帅5-14"/>
            <p:cNvSpPr/>
            <p:nvPr/>
          </p:nvSpPr>
          <p:spPr bwMode="auto">
            <a:xfrm>
              <a:off x="1706" y="1311"/>
              <a:ext cx="277" cy="241"/>
            </a:xfrm>
            <a:custGeom>
              <a:avLst/>
              <a:gdLst>
                <a:gd name="T0" fmla="*/ 39 w 277"/>
                <a:gd name="T1" fmla="*/ 0 h 241"/>
                <a:gd name="T2" fmla="*/ 277 w 277"/>
                <a:gd name="T3" fmla="*/ 48 h 241"/>
                <a:gd name="T4" fmla="*/ 269 w 277"/>
                <a:gd name="T5" fmla="*/ 88 h 241"/>
                <a:gd name="T6" fmla="*/ 80 w 277"/>
                <a:gd name="T7" fmla="*/ 168 h 241"/>
                <a:gd name="T8" fmla="*/ 246 w 277"/>
                <a:gd name="T9" fmla="*/ 201 h 241"/>
                <a:gd name="T10" fmla="*/ 238 w 277"/>
                <a:gd name="T11" fmla="*/ 241 h 241"/>
                <a:gd name="T12" fmla="*/ 0 w 277"/>
                <a:gd name="T13" fmla="*/ 194 h 241"/>
                <a:gd name="T14" fmla="*/ 9 w 277"/>
                <a:gd name="T15" fmla="*/ 147 h 241"/>
                <a:gd name="T16" fmla="*/ 188 w 277"/>
                <a:gd name="T17" fmla="*/ 72 h 241"/>
                <a:gd name="T18" fmla="*/ 31 w 277"/>
                <a:gd name="T19" fmla="*/ 41 h 241"/>
                <a:gd name="T20" fmla="*/ 39 w 277"/>
                <a:gd name="T21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7" h="241">
                  <a:moveTo>
                    <a:pt x="39" y="0"/>
                  </a:moveTo>
                  <a:lnTo>
                    <a:pt x="277" y="48"/>
                  </a:lnTo>
                  <a:lnTo>
                    <a:pt x="269" y="88"/>
                  </a:lnTo>
                  <a:lnTo>
                    <a:pt x="80" y="168"/>
                  </a:lnTo>
                  <a:lnTo>
                    <a:pt x="246" y="201"/>
                  </a:lnTo>
                  <a:lnTo>
                    <a:pt x="238" y="241"/>
                  </a:lnTo>
                  <a:lnTo>
                    <a:pt x="0" y="194"/>
                  </a:lnTo>
                  <a:lnTo>
                    <a:pt x="9" y="147"/>
                  </a:lnTo>
                  <a:lnTo>
                    <a:pt x="188" y="72"/>
                  </a:lnTo>
                  <a:lnTo>
                    <a:pt x="31" y="41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4" name="康帅5-15"/>
            <p:cNvSpPr/>
            <p:nvPr/>
          </p:nvSpPr>
          <p:spPr bwMode="auto">
            <a:xfrm>
              <a:off x="1832" y="1015"/>
              <a:ext cx="249" cy="232"/>
            </a:xfrm>
            <a:custGeom>
              <a:avLst/>
              <a:gdLst>
                <a:gd name="T0" fmla="*/ 27 w 184"/>
                <a:gd name="T1" fmla="*/ 117 h 171"/>
                <a:gd name="T2" fmla="*/ 7 w 184"/>
                <a:gd name="T3" fmla="*/ 98 h 171"/>
                <a:gd name="T4" fmla="*/ 1 w 184"/>
                <a:gd name="T5" fmla="*/ 70 h 171"/>
                <a:gd name="T6" fmla="*/ 11 w 184"/>
                <a:gd name="T7" fmla="*/ 38 h 171"/>
                <a:gd name="T8" fmla="*/ 39 w 184"/>
                <a:gd name="T9" fmla="*/ 7 h 171"/>
                <a:gd name="T10" fmla="*/ 74 w 184"/>
                <a:gd name="T11" fmla="*/ 2 h 171"/>
                <a:gd name="T12" fmla="*/ 72 w 184"/>
                <a:gd name="T13" fmla="*/ 32 h 171"/>
                <a:gd name="T14" fmla="*/ 52 w 184"/>
                <a:gd name="T15" fmla="*/ 35 h 171"/>
                <a:gd name="T16" fmla="*/ 37 w 184"/>
                <a:gd name="T17" fmla="*/ 51 h 171"/>
                <a:gd name="T18" fmla="*/ 31 w 184"/>
                <a:gd name="T19" fmla="*/ 73 h 171"/>
                <a:gd name="T20" fmla="*/ 42 w 184"/>
                <a:gd name="T21" fmla="*/ 87 h 171"/>
                <a:gd name="T22" fmla="*/ 59 w 184"/>
                <a:gd name="T23" fmla="*/ 88 h 171"/>
                <a:gd name="T24" fmla="*/ 80 w 184"/>
                <a:gd name="T25" fmla="*/ 69 h 171"/>
                <a:gd name="T26" fmla="*/ 118 w 184"/>
                <a:gd name="T27" fmla="*/ 39 h 171"/>
                <a:gd name="T28" fmla="*/ 157 w 184"/>
                <a:gd name="T29" fmla="*/ 45 h 171"/>
                <a:gd name="T30" fmla="*/ 178 w 184"/>
                <a:gd name="T31" fmla="*/ 66 h 171"/>
                <a:gd name="T32" fmla="*/ 183 w 184"/>
                <a:gd name="T33" fmla="*/ 95 h 171"/>
                <a:gd name="T34" fmla="*/ 173 w 184"/>
                <a:gd name="T35" fmla="*/ 129 h 171"/>
                <a:gd name="T36" fmla="*/ 142 w 184"/>
                <a:gd name="T37" fmla="*/ 162 h 171"/>
                <a:gd name="T38" fmla="*/ 104 w 184"/>
                <a:gd name="T39" fmla="*/ 168 h 171"/>
                <a:gd name="T40" fmla="*/ 106 w 184"/>
                <a:gd name="T41" fmla="*/ 137 h 171"/>
                <a:gd name="T42" fmla="*/ 130 w 184"/>
                <a:gd name="T43" fmla="*/ 134 h 171"/>
                <a:gd name="T44" fmla="*/ 148 w 184"/>
                <a:gd name="T45" fmla="*/ 115 h 171"/>
                <a:gd name="T46" fmla="*/ 154 w 184"/>
                <a:gd name="T47" fmla="*/ 91 h 171"/>
                <a:gd name="T48" fmla="*/ 141 w 184"/>
                <a:gd name="T49" fmla="*/ 75 h 171"/>
                <a:gd name="T50" fmla="*/ 122 w 184"/>
                <a:gd name="T51" fmla="*/ 74 h 171"/>
                <a:gd name="T52" fmla="*/ 98 w 184"/>
                <a:gd name="T53" fmla="*/ 95 h 171"/>
                <a:gd name="T54" fmla="*/ 63 w 184"/>
                <a:gd name="T55" fmla="*/ 122 h 171"/>
                <a:gd name="T56" fmla="*/ 27 w 184"/>
                <a:gd name="T57" fmla="*/ 11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4" h="171">
                  <a:moveTo>
                    <a:pt x="27" y="117"/>
                  </a:moveTo>
                  <a:cubicBezTo>
                    <a:pt x="18" y="112"/>
                    <a:pt x="11" y="106"/>
                    <a:pt x="7" y="98"/>
                  </a:cubicBezTo>
                  <a:cubicBezTo>
                    <a:pt x="2" y="90"/>
                    <a:pt x="0" y="80"/>
                    <a:pt x="1" y="70"/>
                  </a:cubicBezTo>
                  <a:cubicBezTo>
                    <a:pt x="2" y="60"/>
                    <a:pt x="5" y="49"/>
                    <a:pt x="11" y="38"/>
                  </a:cubicBezTo>
                  <a:cubicBezTo>
                    <a:pt x="19" y="24"/>
                    <a:pt x="28" y="13"/>
                    <a:pt x="39" y="7"/>
                  </a:cubicBezTo>
                  <a:cubicBezTo>
                    <a:pt x="50" y="1"/>
                    <a:pt x="61" y="0"/>
                    <a:pt x="74" y="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64" y="31"/>
                    <a:pt x="58" y="32"/>
                    <a:pt x="52" y="35"/>
                  </a:cubicBezTo>
                  <a:cubicBezTo>
                    <a:pt x="46" y="38"/>
                    <a:pt x="41" y="43"/>
                    <a:pt x="37" y="51"/>
                  </a:cubicBezTo>
                  <a:cubicBezTo>
                    <a:pt x="32" y="59"/>
                    <a:pt x="30" y="67"/>
                    <a:pt x="31" y="73"/>
                  </a:cubicBezTo>
                  <a:cubicBezTo>
                    <a:pt x="32" y="79"/>
                    <a:pt x="36" y="83"/>
                    <a:pt x="42" y="87"/>
                  </a:cubicBezTo>
                  <a:cubicBezTo>
                    <a:pt x="48" y="90"/>
                    <a:pt x="54" y="90"/>
                    <a:pt x="59" y="88"/>
                  </a:cubicBezTo>
                  <a:cubicBezTo>
                    <a:pt x="65" y="85"/>
                    <a:pt x="72" y="79"/>
                    <a:pt x="80" y="69"/>
                  </a:cubicBezTo>
                  <a:cubicBezTo>
                    <a:pt x="93" y="53"/>
                    <a:pt x="106" y="43"/>
                    <a:pt x="118" y="39"/>
                  </a:cubicBezTo>
                  <a:cubicBezTo>
                    <a:pt x="130" y="35"/>
                    <a:pt x="143" y="37"/>
                    <a:pt x="157" y="45"/>
                  </a:cubicBezTo>
                  <a:cubicBezTo>
                    <a:pt x="166" y="50"/>
                    <a:pt x="173" y="57"/>
                    <a:pt x="178" y="66"/>
                  </a:cubicBezTo>
                  <a:cubicBezTo>
                    <a:pt x="182" y="74"/>
                    <a:pt x="184" y="84"/>
                    <a:pt x="183" y="95"/>
                  </a:cubicBezTo>
                  <a:cubicBezTo>
                    <a:pt x="183" y="106"/>
                    <a:pt x="179" y="118"/>
                    <a:pt x="173" y="129"/>
                  </a:cubicBezTo>
                  <a:cubicBezTo>
                    <a:pt x="164" y="144"/>
                    <a:pt x="154" y="155"/>
                    <a:pt x="142" y="162"/>
                  </a:cubicBezTo>
                  <a:cubicBezTo>
                    <a:pt x="130" y="169"/>
                    <a:pt x="118" y="171"/>
                    <a:pt x="104" y="168"/>
                  </a:cubicBezTo>
                  <a:cubicBezTo>
                    <a:pt x="106" y="137"/>
                    <a:pt x="106" y="137"/>
                    <a:pt x="106" y="137"/>
                  </a:cubicBezTo>
                  <a:cubicBezTo>
                    <a:pt x="115" y="139"/>
                    <a:pt x="122" y="138"/>
                    <a:pt x="130" y="134"/>
                  </a:cubicBezTo>
                  <a:cubicBezTo>
                    <a:pt x="137" y="131"/>
                    <a:pt x="143" y="124"/>
                    <a:pt x="148" y="115"/>
                  </a:cubicBezTo>
                  <a:cubicBezTo>
                    <a:pt x="153" y="106"/>
                    <a:pt x="155" y="98"/>
                    <a:pt x="154" y="91"/>
                  </a:cubicBezTo>
                  <a:cubicBezTo>
                    <a:pt x="152" y="84"/>
                    <a:pt x="148" y="79"/>
                    <a:pt x="141" y="75"/>
                  </a:cubicBezTo>
                  <a:cubicBezTo>
                    <a:pt x="135" y="71"/>
                    <a:pt x="128" y="71"/>
                    <a:pt x="122" y="74"/>
                  </a:cubicBezTo>
                  <a:cubicBezTo>
                    <a:pt x="115" y="77"/>
                    <a:pt x="107" y="84"/>
                    <a:pt x="98" y="95"/>
                  </a:cubicBezTo>
                  <a:cubicBezTo>
                    <a:pt x="87" y="109"/>
                    <a:pt x="75" y="119"/>
                    <a:pt x="63" y="122"/>
                  </a:cubicBezTo>
                  <a:cubicBezTo>
                    <a:pt x="51" y="126"/>
                    <a:pt x="39" y="124"/>
                    <a:pt x="27" y="117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5" name="康帅5-16"/>
            <p:cNvSpPr/>
            <p:nvPr/>
          </p:nvSpPr>
          <p:spPr bwMode="auto">
            <a:xfrm>
              <a:off x="1933" y="784"/>
              <a:ext cx="314" cy="310"/>
            </a:xfrm>
            <a:custGeom>
              <a:avLst/>
              <a:gdLst>
                <a:gd name="T0" fmla="*/ 133 w 314"/>
                <a:gd name="T1" fmla="*/ 0 h 310"/>
                <a:gd name="T2" fmla="*/ 314 w 314"/>
                <a:gd name="T3" fmla="*/ 161 h 310"/>
                <a:gd name="T4" fmla="*/ 283 w 314"/>
                <a:gd name="T5" fmla="*/ 196 h 310"/>
                <a:gd name="T6" fmla="*/ 203 w 314"/>
                <a:gd name="T7" fmla="*/ 124 h 310"/>
                <a:gd name="T8" fmla="*/ 132 w 314"/>
                <a:gd name="T9" fmla="*/ 203 h 310"/>
                <a:gd name="T10" fmla="*/ 213 w 314"/>
                <a:gd name="T11" fmla="*/ 274 h 310"/>
                <a:gd name="T12" fmla="*/ 182 w 314"/>
                <a:gd name="T13" fmla="*/ 310 h 310"/>
                <a:gd name="T14" fmla="*/ 0 w 314"/>
                <a:gd name="T15" fmla="*/ 147 h 310"/>
                <a:gd name="T16" fmla="*/ 31 w 314"/>
                <a:gd name="T17" fmla="*/ 113 h 310"/>
                <a:gd name="T18" fmla="*/ 103 w 314"/>
                <a:gd name="T19" fmla="*/ 177 h 310"/>
                <a:gd name="T20" fmla="*/ 175 w 314"/>
                <a:gd name="T21" fmla="*/ 98 h 310"/>
                <a:gd name="T22" fmla="*/ 102 w 314"/>
                <a:gd name="T23" fmla="*/ 34 h 310"/>
                <a:gd name="T24" fmla="*/ 133 w 314"/>
                <a:gd name="T25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4" h="310">
                  <a:moveTo>
                    <a:pt x="133" y="0"/>
                  </a:moveTo>
                  <a:lnTo>
                    <a:pt x="314" y="161"/>
                  </a:lnTo>
                  <a:lnTo>
                    <a:pt x="283" y="196"/>
                  </a:lnTo>
                  <a:lnTo>
                    <a:pt x="203" y="124"/>
                  </a:lnTo>
                  <a:lnTo>
                    <a:pt x="132" y="203"/>
                  </a:lnTo>
                  <a:lnTo>
                    <a:pt x="213" y="274"/>
                  </a:lnTo>
                  <a:lnTo>
                    <a:pt x="182" y="310"/>
                  </a:lnTo>
                  <a:lnTo>
                    <a:pt x="0" y="147"/>
                  </a:lnTo>
                  <a:lnTo>
                    <a:pt x="31" y="113"/>
                  </a:lnTo>
                  <a:lnTo>
                    <a:pt x="103" y="177"/>
                  </a:lnTo>
                  <a:lnTo>
                    <a:pt x="175" y="98"/>
                  </a:lnTo>
                  <a:lnTo>
                    <a:pt x="102" y="34"/>
                  </a:lnTo>
                  <a:lnTo>
                    <a:pt x="133" y="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6" name="康帅5-17"/>
            <p:cNvSpPr>
              <a:spLocks noEditPoints="1"/>
            </p:cNvSpPr>
            <p:nvPr/>
          </p:nvSpPr>
          <p:spPr bwMode="auto">
            <a:xfrm>
              <a:off x="2184" y="658"/>
              <a:ext cx="251" cy="279"/>
            </a:xfrm>
            <a:custGeom>
              <a:avLst/>
              <a:gdLst>
                <a:gd name="T0" fmla="*/ 161 w 251"/>
                <a:gd name="T1" fmla="*/ 141 h 279"/>
                <a:gd name="T2" fmla="*/ 90 w 251"/>
                <a:gd name="T3" fmla="*/ 191 h 279"/>
                <a:gd name="T4" fmla="*/ 111 w 251"/>
                <a:gd name="T5" fmla="*/ 252 h 279"/>
                <a:gd name="T6" fmla="*/ 71 w 251"/>
                <a:gd name="T7" fmla="*/ 279 h 279"/>
                <a:gd name="T8" fmla="*/ 0 w 251"/>
                <a:gd name="T9" fmla="*/ 32 h 279"/>
                <a:gd name="T10" fmla="*/ 47 w 251"/>
                <a:gd name="T11" fmla="*/ 0 h 279"/>
                <a:gd name="T12" fmla="*/ 251 w 251"/>
                <a:gd name="T13" fmla="*/ 153 h 279"/>
                <a:gd name="T14" fmla="*/ 211 w 251"/>
                <a:gd name="T15" fmla="*/ 181 h 279"/>
                <a:gd name="T16" fmla="*/ 161 w 251"/>
                <a:gd name="T17" fmla="*/ 141 h 279"/>
                <a:gd name="T18" fmla="*/ 130 w 251"/>
                <a:gd name="T19" fmla="*/ 116 h 279"/>
                <a:gd name="T20" fmla="*/ 43 w 251"/>
                <a:gd name="T21" fmla="*/ 47 h 279"/>
                <a:gd name="T22" fmla="*/ 78 w 251"/>
                <a:gd name="T23" fmla="*/ 151 h 279"/>
                <a:gd name="T24" fmla="*/ 130 w 251"/>
                <a:gd name="T25" fmla="*/ 116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79">
                  <a:moveTo>
                    <a:pt x="161" y="141"/>
                  </a:moveTo>
                  <a:lnTo>
                    <a:pt x="90" y="191"/>
                  </a:lnTo>
                  <a:lnTo>
                    <a:pt x="111" y="252"/>
                  </a:lnTo>
                  <a:lnTo>
                    <a:pt x="71" y="279"/>
                  </a:lnTo>
                  <a:lnTo>
                    <a:pt x="0" y="32"/>
                  </a:lnTo>
                  <a:lnTo>
                    <a:pt x="47" y="0"/>
                  </a:lnTo>
                  <a:lnTo>
                    <a:pt x="251" y="153"/>
                  </a:lnTo>
                  <a:lnTo>
                    <a:pt x="211" y="181"/>
                  </a:lnTo>
                  <a:lnTo>
                    <a:pt x="161" y="141"/>
                  </a:lnTo>
                  <a:close/>
                  <a:moveTo>
                    <a:pt x="130" y="116"/>
                  </a:moveTo>
                  <a:lnTo>
                    <a:pt x="43" y="47"/>
                  </a:lnTo>
                  <a:lnTo>
                    <a:pt x="78" y="151"/>
                  </a:lnTo>
                  <a:lnTo>
                    <a:pt x="130" y="116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7" name="康帅5-18"/>
            <p:cNvSpPr/>
            <p:nvPr/>
          </p:nvSpPr>
          <p:spPr bwMode="auto">
            <a:xfrm>
              <a:off x="2360" y="509"/>
              <a:ext cx="272" cy="298"/>
            </a:xfrm>
            <a:custGeom>
              <a:avLst/>
              <a:gdLst>
                <a:gd name="T0" fmla="*/ 184 w 272"/>
                <a:gd name="T1" fmla="*/ 0 h 298"/>
                <a:gd name="T2" fmla="*/ 272 w 272"/>
                <a:gd name="T3" fmla="*/ 226 h 298"/>
                <a:gd name="T4" fmla="*/ 232 w 272"/>
                <a:gd name="T5" fmla="*/ 241 h 298"/>
                <a:gd name="T6" fmla="*/ 65 w 272"/>
                <a:gd name="T7" fmla="*/ 124 h 298"/>
                <a:gd name="T8" fmla="*/ 127 w 272"/>
                <a:gd name="T9" fmla="*/ 283 h 298"/>
                <a:gd name="T10" fmla="*/ 88 w 272"/>
                <a:gd name="T11" fmla="*/ 298 h 298"/>
                <a:gd name="T12" fmla="*/ 0 w 272"/>
                <a:gd name="T13" fmla="*/ 72 h 298"/>
                <a:gd name="T14" fmla="*/ 44 w 272"/>
                <a:gd name="T15" fmla="*/ 54 h 298"/>
                <a:gd name="T16" fmla="*/ 204 w 272"/>
                <a:gd name="T17" fmla="*/ 165 h 298"/>
                <a:gd name="T18" fmla="*/ 144 w 272"/>
                <a:gd name="T19" fmla="*/ 15 h 298"/>
                <a:gd name="T20" fmla="*/ 184 w 272"/>
                <a:gd name="T2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2" h="298">
                  <a:moveTo>
                    <a:pt x="184" y="0"/>
                  </a:moveTo>
                  <a:lnTo>
                    <a:pt x="272" y="226"/>
                  </a:lnTo>
                  <a:lnTo>
                    <a:pt x="232" y="241"/>
                  </a:lnTo>
                  <a:lnTo>
                    <a:pt x="65" y="124"/>
                  </a:lnTo>
                  <a:lnTo>
                    <a:pt x="127" y="283"/>
                  </a:lnTo>
                  <a:lnTo>
                    <a:pt x="88" y="298"/>
                  </a:lnTo>
                  <a:lnTo>
                    <a:pt x="0" y="72"/>
                  </a:lnTo>
                  <a:lnTo>
                    <a:pt x="44" y="54"/>
                  </a:lnTo>
                  <a:lnTo>
                    <a:pt x="204" y="165"/>
                  </a:lnTo>
                  <a:lnTo>
                    <a:pt x="144" y="15"/>
                  </a:lnTo>
                  <a:lnTo>
                    <a:pt x="184" y="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8" name="康帅5-19"/>
            <p:cNvSpPr/>
            <p:nvPr/>
          </p:nvSpPr>
          <p:spPr bwMode="auto">
            <a:xfrm>
              <a:off x="2726" y="462"/>
              <a:ext cx="205" cy="251"/>
            </a:xfrm>
            <a:custGeom>
              <a:avLst/>
              <a:gdLst>
                <a:gd name="T0" fmla="*/ 81 w 151"/>
                <a:gd name="T1" fmla="*/ 185 h 186"/>
                <a:gd name="T2" fmla="*/ 42 w 151"/>
                <a:gd name="T3" fmla="*/ 179 h 186"/>
                <a:gd name="T4" fmla="*/ 16 w 151"/>
                <a:gd name="T5" fmla="*/ 156 h 186"/>
                <a:gd name="T6" fmla="*/ 5 w 151"/>
                <a:gd name="T7" fmla="*/ 121 h 186"/>
                <a:gd name="T8" fmla="*/ 0 w 151"/>
                <a:gd name="T9" fmla="*/ 6 h 186"/>
                <a:gd name="T10" fmla="*/ 32 w 151"/>
                <a:gd name="T11" fmla="*/ 5 h 186"/>
                <a:gd name="T12" fmla="*/ 37 w 151"/>
                <a:gd name="T13" fmla="*/ 117 h 186"/>
                <a:gd name="T14" fmla="*/ 48 w 151"/>
                <a:gd name="T15" fmla="*/ 148 h 186"/>
                <a:gd name="T16" fmla="*/ 79 w 151"/>
                <a:gd name="T17" fmla="*/ 158 h 186"/>
                <a:gd name="T18" fmla="*/ 107 w 151"/>
                <a:gd name="T19" fmla="*/ 145 h 186"/>
                <a:gd name="T20" fmla="*/ 116 w 151"/>
                <a:gd name="T21" fmla="*/ 113 h 186"/>
                <a:gd name="T22" fmla="*/ 111 w 151"/>
                <a:gd name="T23" fmla="*/ 1 h 186"/>
                <a:gd name="T24" fmla="*/ 145 w 151"/>
                <a:gd name="T25" fmla="*/ 0 h 186"/>
                <a:gd name="T26" fmla="*/ 150 w 151"/>
                <a:gd name="T27" fmla="*/ 114 h 186"/>
                <a:gd name="T28" fmla="*/ 143 w 151"/>
                <a:gd name="T29" fmla="*/ 151 h 186"/>
                <a:gd name="T30" fmla="*/ 119 w 151"/>
                <a:gd name="T31" fmla="*/ 175 h 186"/>
                <a:gd name="T32" fmla="*/ 81 w 151"/>
                <a:gd name="T33" fmla="*/ 18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1" h="186">
                  <a:moveTo>
                    <a:pt x="81" y="185"/>
                  </a:moveTo>
                  <a:cubicBezTo>
                    <a:pt x="66" y="186"/>
                    <a:pt x="53" y="184"/>
                    <a:pt x="42" y="179"/>
                  </a:cubicBezTo>
                  <a:cubicBezTo>
                    <a:pt x="31" y="174"/>
                    <a:pt x="22" y="166"/>
                    <a:pt x="16" y="156"/>
                  </a:cubicBezTo>
                  <a:cubicBezTo>
                    <a:pt x="9" y="146"/>
                    <a:pt x="6" y="134"/>
                    <a:pt x="5" y="12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37" y="131"/>
                    <a:pt x="41" y="141"/>
                    <a:pt x="48" y="148"/>
                  </a:cubicBezTo>
                  <a:cubicBezTo>
                    <a:pt x="56" y="155"/>
                    <a:pt x="66" y="158"/>
                    <a:pt x="79" y="158"/>
                  </a:cubicBezTo>
                  <a:cubicBezTo>
                    <a:pt x="91" y="157"/>
                    <a:pt x="101" y="153"/>
                    <a:pt x="107" y="145"/>
                  </a:cubicBezTo>
                  <a:cubicBezTo>
                    <a:pt x="114" y="138"/>
                    <a:pt x="117" y="127"/>
                    <a:pt x="116" y="113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50" y="114"/>
                    <a:pt x="150" y="114"/>
                    <a:pt x="150" y="114"/>
                  </a:cubicBezTo>
                  <a:cubicBezTo>
                    <a:pt x="151" y="128"/>
                    <a:pt x="149" y="140"/>
                    <a:pt x="143" y="151"/>
                  </a:cubicBezTo>
                  <a:cubicBezTo>
                    <a:pt x="138" y="161"/>
                    <a:pt x="130" y="169"/>
                    <a:pt x="119" y="175"/>
                  </a:cubicBezTo>
                  <a:cubicBezTo>
                    <a:pt x="108" y="181"/>
                    <a:pt x="96" y="184"/>
                    <a:pt x="81" y="185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9" name="康帅5-20"/>
            <p:cNvSpPr/>
            <p:nvPr/>
          </p:nvSpPr>
          <p:spPr bwMode="auto">
            <a:xfrm>
              <a:off x="2961" y="467"/>
              <a:ext cx="242" cy="277"/>
            </a:xfrm>
            <a:custGeom>
              <a:avLst/>
              <a:gdLst>
                <a:gd name="T0" fmla="*/ 242 w 242"/>
                <a:gd name="T1" fmla="*/ 39 h 277"/>
                <a:gd name="T2" fmla="*/ 194 w 242"/>
                <a:gd name="T3" fmla="*/ 277 h 277"/>
                <a:gd name="T4" fmla="*/ 152 w 242"/>
                <a:gd name="T5" fmla="*/ 269 h 277"/>
                <a:gd name="T6" fmla="*/ 74 w 242"/>
                <a:gd name="T7" fmla="*/ 80 h 277"/>
                <a:gd name="T8" fmla="*/ 42 w 242"/>
                <a:gd name="T9" fmla="*/ 248 h 277"/>
                <a:gd name="T10" fmla="*/ 0 w 242"/>
                <a:gd name="T11" fmla="*/ 240 h 277"/>
                <a:gd name="T12" fmla="*/ 47 w 242"/>
                <a:gd name="T13" fmla="*/ 0 h 277"/>
                <a:gd name="T14" fmla="*/ 96 w 242"/>
                <a:gd name="T15" fmla="*/ 9 h 277"/>
                <a:gd name="T16" fmla="*/ 169 w 242"/>
                <a:gd name="T17" fmla="*/ 189 h 277"/>
                <a:gd name="T18" fmla="*/ 201 w 242"/>
                <a:gd name="T19" fmla="*/ 31 h 277"/>
                <a:gd name="T20" fmla="*/ 242 w 242"/>
                <a:gd name="T21" fmla="*/ 39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277">
                  <a:moveTo>
                    <a:pt x="242" y="39"/>
                  </a:moveTo>
                  <a:lnTo>
                    <a:pt x="194" y="277"/>
                  </a:lnTo>
                  <a:lnTo>
                    <a:pt x="152" y="269"/>
                  </a:lnTo>
                  <a:lnTo>
                    <a:pt x="74" y="80"/>
                  </a:lnTo>
                  <a:lnTo>
                    <a:pt x="42" y="248"/>
                  </a:lnTo>
                  <a:lnTo>
                    <a:pt x="0" y="240"/>
                  </a:lnTo>
                  <a:lnTo>
                    <a:pt x="47" y="0"/>
                  </a:lnTo>
                  <a:lnTo>
                    <a:pt x="96" y="9"/>
                  </a:lnTo>
                  <a:lnTo>
                    <a:pt x="169" y="189"/>
                  </a:lnTo>
                  <a:lnTo>
                    <a:pt x="201" y="31"/>
                  </a:lnTo>
                  <a:lnTo>
                    <a:pt x="242" y="39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0" name="康帅5-21"/>
            <p:cNvSpPr/>
            <p:nvPr/>
          </p:nvSpPr>
          <p:spPr bwMode="auto">
            <a:xfrm>
              <a:off x="3187" y="533"/>
              <a:ext cx="130" cy="244"/>
            </a:xfrm>
            <a:custGeom>
              <a:avLst/>
              <a:gdLst>
                <a:gd name="T0" fmla="*/ 130 w 130"/>
                <a:gd name="T1" fmla="*/ 17 h 244"/>
                <a:gd name="T2" fmla="*/ 43 w 130"/>
                <a:gd name="T3" fmla="*/ 244 h 244"/>
                <a:gd name="T4" fmla="*/ 0 w 130"/>
                <a:gd name="T5" fmla="*/ 228 h 244"/>
                <a:gd name="T6" fmla="*/ 86 w 130"/>
                <a:gd name="T7" fmla="*/ 0 h 244"/>
                <a:gd name="T8" fmla="*/ 130 w 130"/>
                <a:gd name="T9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44">
                  <a:moveTo>
                    <a:pt x="130" y="17"/>
                  </a:moveTo>
                  <a:lnTo>
                    <a:pt x="43" y="244"/>
                  </a:lnTo>
                  <a:lnTo>
                    <a:pt x="0" y="228"/>
                  </a:lnTo>
                  <a:lnTo>
                    <a:pt x="86" y="0"/>
                  </a:lnTo>
                  <a:lnTo>
                    <a:pt x="130" y="17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1" name="康帅5-22"/>
            <p:cNvSpPr/>
            <p:nvPr/>
          </p:nvSpPr>
          <p:spPr bwMode="auto">
            <a:xfrm>
              <a:off x="3321" y="568"/>
              <a:ext cx="240" cy="279"/>
            </a:xfrm>
            <a:custGeom>
              <a:avLst/>
              <a:gdLst>
                <a:gd name="T0" fmla="*/ 240 w 240"/>
                <a:gd name="T1" fmla="*/ 110 h 279"/>
                <a:gd name="T2" fmla="*/ 48 w 240"/>
                <a:gd name="T3" fmla="*/ 279 h 279"/>
                <a:gd name="T4" fmla="*/ 0 w 240"/>
                <a:gd name="T5" fmla="*/ 251 h 279"/>
                <a:gd name="T6" fmla="*/ 51 w 240"/>
                <a:gd name="T7" fmla="*/ 0 h 279"/>
                <a:gd name="T8" fmla="*/ 94 w 240"/>
                <a:gd name="T9" fmla="*/ 25 h 279"/>
                <a:gd name="T10" fmla="*/ 44 w 240"/>
                <a:gd name="T11" fmla="*/ 235 h 279"/>
                <a:gd name="T12" fmla="*/ 200 w 240"/>
                <a:gd name="T13" fmla="*/ 87 h 279"/>
                <a:gd name="T14" fmla="*/ 240 w 240"/>
                <a:gd name="T15" fmla="*/ 11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279">
                  <a:moveTo>
                    <a:pt x="240" y="110"/>
                  </a:moveTo>
                  <a:lnTo>
                    <a:pt x="48" y="279"/>
                  </a:lnTo>
                  <a:lnTo>
                    <a:pt x="0" y="251"/>
                  </a:lnTo>
                  <a:lnTo>
                    <a:pt x="51" y="0"/>
                  </a:lnTo>
                  <a:lnTo>
                    <a:pt x="94" y="25"/>
                  </a:lnTo>
                  <a:lnTo>
                    <a:pt x="44" y="235"/>
                  </a:lnTo>
                  <a:lnTo>
                    <a:pt x="200" y="87"/>
                  </a:lnTo>
                  <a:lnTo>
                    <a:pt x="240" y="11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2" name="康帅5-23"/>
            <p:cNvSpPr/>
            <p:nvPr/>
          </p:nvSpPr>
          <p:spPr bwMode="auto">
            <a:xfrm>
              <a:off x="3449" y="720"/>
              <a:ext cx="275" cy="280"/>
            </a:xfrm>
            <a:custGeom>
              <a:avLst/>
              <a:gdLst>
                <a:gd name="T0" fmla="*/ 172 w 275"/>
                <a:gd name="T1" fmla="*/ 60 h 280"/>
                <a:gd name="T2" fmla="*/ 133 w 275"/>
                <a:gd name="T3" fmla="*/ 102 h 280"/>
                <a:gd name="T4" fmla="*/ 204 w 275"/>
                <a:gd name="T5" fmla="*/ 168 h 280"/>
                <a:gd name="T6" fmla="*/ 179 w 275"/>
                <a:gd name="T7" fmla="*/ 196 h 280"/>
                <a:gd name="T8" fmla="*/ 107 w 275"/>
                <a:gd name="T9" fmla="*/ 131 h 280"/>
                <a:gd name="T10" fmla="*/ 60 w 275"/>
                <a:gd name="T11" fmla="*/ 183 h 280"/>
                <a:gd name="T12" fmla="*/ 137 w 275"/>
                <a:gd name="T13" fmla="*/ 252 h 280"/>
                <a:gd name="T14" fmla="*/ 111 w 275"/>
                <a:gd name="T15" fmla="*/ 280 h 280"/>
                <a:gd name="T16" fmla="*/ 0 w 275"/>
                <a:gd name="T17" fmla="*/ 180 h 280"/>
                <a:gd name="T18" fmla="*/ 164 w 275"/>
                <a:gd name="T19" fmla="*/ 0 h 280"/>
                <a:gd name="T20" fmla="*/ 275 w 275"/>
                <a:gd name="T21" fmla="*/ 100 h 280"/>
                <a:gd name="T22" fmla="*/ 248 w 275"/>
                <a:gd name="T23" fmla="*/ 129 h 280"/>
                <a:gd name="T24" fmla="*/ 172 w 275"/>
                <a:gd name="T25" fmla="*/ 6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280">
                  <a:moveTo>
                    <a:pt x="172" y="60"/>
                  </a:moveTo>
                  <a:lnTo>
                    <a:pt x="133" y="102"/>
                  </a:lnTo>
                  <a:lnTo>
                    <a:pt x="204" y="168"/>
                  </a:lnTo>
                  <a:lnTo>
                    <a:pt x="179" y="196"/>
                  </a:lnTo>
                  <a:lnTo>
                    <a:pt x="107" y="131"/>
                  </a:lnTo>
                  <a:lnTo>
                    <a:pt x="60" y="183"/>
                  </a:lnTo>
                  <a:lnTo>
                    <a:pt x="137" y="252"/>
                  </a:lnTo>
                  <a:lnTo>
                    <a:pt x="111" y="280"/>
                  </a:lnTo>
                  <a:lnTo>
                    <a:pt x="0" y="180"/>
                  </a:lnTo>
                  <a:lnTo>
                    <a:pt x="164" y="0"/>
                  </a:lnTo>
                  <a:lnTo>
                    <a:pt x="275" y="100"/>
                  </a:lnTo>
                  <a:lnTo>
                    <a:pt x="248" y="129"/>
                  </a:lnTo>
                  <a:lnTo>
                    <a:pt x="172" y="60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3" name="康帅5-24"/>
            <p:cNvSpPr>
              <a:spLocks noEditPoints="1"/>
            </p:cNvSpPr>
            <p:nvPr/>
          </p:nvSpPr>
          <p:spPr bwMode="auto">
            <a:xfrm>
              <a:off x="3579" y="877"/>
              <a:ext cx="271" cy="294"/>
            </a:xfrm>
            <a:custGeom>
              <a:avLst/>
              <a:gdLst>
                <a:gd name="T0" fmla="*/ 87 w 200"/>
                <a:gd name="T1" fmla="*/ 108 h 217"/>
                <a:gd name="T2" fmla="*/ 76 w 200"/>
                <a:gd name="T3" fmla="*/ 93 h 217"/>
                <a:gd name="T4" fmla="*/ 20 w 200"/>
                <a:gd name="T5" fmla="*/ 133 h 217"/>
                <a:gd name="T6" fmla="*/ 0 w 200"/>
                <a:gd name="T7" fmla="*/ 106 h 217"/>
                <a:gd name="T8" fmla="*/ 145 w 200"/>
                <a:gd name="T9" fmla="*/ 0 h 217"/>
                <a:gd name="T10" fmla="*/ 187 w 200"/>
                <a:gd name="T11" fmla="*/ 58 h 217"/>
                <a:gd name="T12" fmla="*/ 199 w 200"/>
                <a:gd name="T13" fmla="*/ 85 h 217"/>
                <a:gd name="T14" fmla="*/ 195 w 200"/>
                <a:gd name="T15" fmla="*/ 112 h 217"/>
                <a:gd name="T16" fmla="*/ 175 w 200"/>
                <a:gd name="T17" fmla="*/ 135 h 217"/>
                <a:gd name="T18" fmla="*/ 141 w 200"/>
                <a:gd name="T19" fmla="*/ 147 h 217"/>
                <a:gd name="T20" fmla="*/ 109 w 200"/>
                <a:gd name="T21" fmla="*/ 135 h 217"/>
                <a:gd name="T22" fmla="*/ 81 w 200"/>
                <a:gd name="T23" fmla="*/ 217 h 217"/>
                <a:gd name="T24" fmla="*/ 57 w 200"/>
                <a:gd name="T25" fmla="*/ 184 h 217"/>
                <a:gd name="T26" fmla="*/ 87 w 200"/>
                <a:gd name="T27" fmla="*/ 108 h 217"/>
                <a:gd name="T28" fmla="*/ 97 w 200"/>
                <a:gd name="T29" fmla="*/ 77 h 217"/>
                <a:gd name="T30" fmla="*/ 115 w 200"/>
                <a:gd name="T31" fmla="*/ 101 h 217"/>
                <a:gd name="T32" fmla="*/ 134 w 200"/>
                <a:gd name="T33" fmla="*/ 114 h 217"/>
                <a:gd name="T34" fmla="*/ 155 w 200"/>
                <a:gd name="T35" fmla="*/ 108 h 217"/>
                <a:gd name="T36" fmla="*/ 168 w 200"/>
                <a:gd name="T37" fmla="*/ 89 h 217"/>
                <a:gd name="T38" fmla="*/ 161 w 200"/>
                <a:gd name="T39" fmla="*/ 68 h 217"/>
                <a:gd name="T40" fmla="*/ 143 w 200"/>
                <a:gd name="T41" fmla="*/ 43 h 217"/>
                <a:gd name="T42" fmla="*/ 97 w 200"/>
                <a:gd name="T43" fmla="*/ 7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0" h="217">
                  <a:moveTo>
                    <a:pt x="87" y="108"/>
                  </a:moveTo>
                  <a:cubicBezTo>
                    <a:pt x="76" y="93"/>
                    <a:pt x="76" y="93"/>
                    <a:pt x="76" y="93"/>
                  </a:cubicBezTo>
                  <a:cubicBezTo>
                    <a:pt x="20" y="133"/>
                    <a:pt x="20" y="133"/>
                    <a:pt x="20" y="133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87" y="58"/>
                    <a:pt x="187" y="58"/>
                    <a:pt x="187" y="58"/>
                  </a:cubicBezTo>
                  <a:cubicBezTo>
                    <a:pt x="194" y="67"/>
                    <a:pt x="198" y="76"/>
                    <a:pt x="199" y="85"/>
                  </a:cubicBezTo>
                  <a:cubicBezTo>
                    <a:pt x="200" y="95"/>
                    <a:pt x="199" y="104"/>
                    <a:pt x="195" y="112"/>
                  </a:cubicBezTo>
                  <a:cubicBezTo>
                    <a:pt x="190" y="121"/>
                    <a:pt x="184" y="129"/>
                    <a:pt x="175" y="135"/>
                  </a:cubicBezTo>
                  <a:cubicBezTo>
                    <a:pt x="164" y="143"/>
                    <a:pt x="152" y="147"/>
                    <a:pt x="141" y="147"/>
                  </a:cubicBezTo>
                  <a:cubicBezTo>
                    <a:pt x="129" y="147"/>
                    <a:pt x="118" y="143"/>
                    <a:pt x="109" y="135"/>
                  </a:cubicBezTo>
                  <a:cubicBezTo>
                    <a:pt x="81" y="217"/>
                    <a:pt x="81" y="217"/>
                    <a:pt x="81" y="217"/>
                  </a:cubicBezTo>
                  <a:cubicBezTo>
                    <a:pt x="57" y="184"/>
                    <a:pt x="57" y="184"/>
                    <a:pt x="57" y="184"/>
                  </a:cubicBezTo>
                  <a:lnTo>
                    <a:pt x="87" y="108"/>
                  </a:lnTo>
                  <a:close/>
                  <a:moveTo>
                    <a:pt x="97" y="77"/>
                  </a:moveTo>
                  <a:cubicBezTo>
                    <a:pt x="115" y="101"/>
                    <a:pt x="115" y="101"/>
                    <a:pt x="115" y="101"/>
                  </a:cubicBezTo>
                  <a:cubicBezTo>
                    <a:pt x="120" y="109"/>
                    <a:pt x="127" y="113"/>
                    <a:pt x="134" y="114"/>
                  </a:cubicBezTo>
                  <a:cubicBezTo>
                    <a:pt x="140" y="115"/>
                    <a:pt x="148" y="113"/>
                    <a:pt x="155" y="108"/>
                  </a:cubicBezTo>
                  <a:cubicBezTo>
                    <a:pt x="163" y="102"/>
                    <a:pt x="167" y="96"/>
                    <a:pt x="168" y="89"/>
                  </a:cubicBezTo>
                  <a:cubicBezTo>
                    <a:pt x="169" y="82"/>
                    <a:pt x="167" y="75"/>
                    <a:pt x="161" y="68"/>
                  </a:cubicBezTo>
                  <a:cubicBezTo>
                    <a:pt x="143" y="43"/>
                    <a:pt x="143" y="43"/>
                    <a:pt x="143" y="43"/>
                  </a:cubicBezTo>
                  <a:lnTo>
                    <a:pt x="97" y="77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4" name="康帅5-25"/>
            <p:cNvSpPr/>
            <p:nvPr/>
          </p:nvSpPr>
          <p:spPr bwMode="auto">
            <a:xfrm>
              <a:off x="3708" y="1099"/>
              <a:ext cx="255" cy="215"/>
            </a:xfrm>
            <a:custGeom>
              <a:avLst/>
              <a:gdLst>
                <a:gd name="T0" fmla="*/ 107 w 189"/>
                <a:gd name="T1" fmla="*/ 6 h 159"/>
                <a:gd name="T2" fmla="*/ 135 w 189"/>
                <a:gd name="T3" fmla="*/ 1 h 159"/>
                <a:gd name="T4" fmla="*/ 160 w 189"/>
                <a:gd name="T5" fmla="*/ 13 h 159"/>
                <a:gd name="T6" fmla="*/ 180 w 189"/>
                <a:gd name="T7" fmla="*/ 41 h 159"/>
                <a:gd name="T8" fmla="*/ 188 w 189"/>
                <a:gd name="T9" fmla="*/ 81 h 159"/>
                <a:gd name="T10" fmla="*/ 171 w 189"/>
                <a:gd name="T11" fmla="*/ 112 h 159"/>
                <a:gd name="T12" fmla="*/ 148 w 189"/>
                <a:gd name="T13" fmla="*/ 93 h 159"/>
                <a:gd name="T14" fmla="*/ 158 w 189"/>
                <a:gd name="T15" fmla="*/ 75 h 159"/>
                <a:gd name="T16" fmla="*/ 154 w 189"/>
                <a:gd name="T17" fmla="*/ 54 h 159"/>
                <a:gd name="T18" fmla="*/ 140 w 189"/>
                <a:gd name="T19" fmla="*/ 36 h 159"/>
                <a:gd name="T20" fmla="*/ 122 w 189"/>
                <a:gd name="T21" fmla="*/ 36 h 159"/>
                <a:gd name="T22" fmla="*/ 111 w 189"/>
                <a:gd name="T23" fmla="*/ 49 h 159"/>
                <a:gd name="T24" fmla="*/ 114 w 189"/>
                <a:gd name="T25" fmla="*/ 77 h 159"/>
                <a:gd name="T26" fmla="*/ 115 w 189"/>
                <a:gd name="T27" fmla="*/ 126 h 159"/>
                <a:gd name="T28" fmla="*/ 87 w 189"/>
                <a:gd name="T29" fmla="*/ 154 h 159"/>
                <a:gd name="T30" fmla="*/ 58 w 189"/>
                <a:gd name="T31" fmla="*/ 158 h 159"/>
                <a:gd name="T32" fmla="*/ 31 w 189"/>
                <a:gd name="T33" fmla="*/ 144 h 159"/>
                <a:gd name="T34" fmla="*/ 10 w 189"/>
                <a:gd name="T35" fmla="*/ 116 h 159"/>
                <a:gd name="T36" fmla="*/ 2 w 189"/>
                <a:gd name="T37" fmla="*/ 72 h 159"/>
                <a:gd name="T38" fmla="*/ 20 w 189"/>
                <a:gd name="T39" fmla="*/ 38 h 159"/>
                <a:gd name="T40" fmla="*/ 43 w 189"/>
                <a:gd name="T41" fmla="*/ 57 h 159"/>
                <a:gd name="T42" fmla="*/ 32 w 189"/>
                <a:gd name="T43" fmla="*/ 78 h 159"/>
                <a:gd name="T44" fmla="*/ 37 w 189"/>
                <a:gd name="T45" fmla="*/ 104 h 159"/>
                <a:gd name="T46" fmla="*/ 52 w 189"/>
                <a:gd name="T47" fmla="*/ 123 h 159"/>
                <a:gd name="T48" fmla="*/ 72 w 189"/>
                <a:gd name="T49" fmla="*/ 123 h 159"/>
                <a:gd name="T50" fmla="*/ 85 w 189"/>
                <a:gd name="T51" fmla="*/ 108 h 159"/>
                <a:gd name="T52" fmla="*/ 82 w 189"/>
                <a:gd name="T53" fmla="*/ 76 h 159"/>
                <a:gd name="T54" fmla="*/ 81 w 189"/>
                <a:gd name="T55" fmla="*/ 32 h 159"/>
                <a:gd name="T56" fmla="*/ 107 w 189"/>
                <a:gd name="T57" fmla="*/ 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9" h="159">
                  <a:moveTo>
                    <a:pt x="107" y="6"/>
                  </a:moveTo>
                  <a:cubicBezTo>
                    <a:pt x="116" y="2"/>
                    <a:pt x="125" y="0"/>
                    <a:pt x="135" y="1"/>
                  </a:cubicBezTo>
                  <a:cubicBezTo>
                    <a:pt x="144" y="3"/>
                    <a:pt x="152" y="7"/>
                    <a:pt x="160" y="13"/>
                  </a:cubicBezTo>
                  <a:cubicBezTo>
                    <a:pt x="168" y="20"/>
                    <a:pt x="175" y="29"/>
                    <a:pt x="180" y="41"/>
                  </a:cubicBezTo>
                  <a:cubicBezTo>
                    <a:pt x="187" y="56"/>
                    <a:pt x="189" y="69"/>
                    <a:pt x="188" y="81"/>
                  </a:cubicBezTo>
                  <a:cubicBezTo>
                    <a:pt x="186" y="93"/>
                    <a:pt x="181" y="104"/>
                    <a:pt x="171" y="112"/>
                  </a:cubicBezTo>
                  <a:cubicBezTo>
                    <a:pt x="148" y="93"/>
                    <a:pt x="148" y="93"/>
                    <a:pt x="148" y="93"/>
                  </a:cubicBezTo>
                  <a:cubicBezTo>
                    <a:pt x="154" y="87"/>
                    <a:pt x="157" y="82"/>
                    <a:pt x="158" y="75"/>
                  </a:cubicBezTo>
                  <a:cubicBezTo>
                    <a:pt x="159" y="69"/>
                    <a:pt x="158" y="62"/>
                    <a:pt x="154" y="54"/>
                  </a:cubicBezTo>
                  <a:cubicBezTo>
                    <a:pt x="150" y="45"/>
                    <a:pt x="145" y="39"/>
                    <a:pt x="140" y="36"/>
                  </a:cubicBezTo>
                  <a:cubicBezTo>
                    <a:pt x="135" y="33"/>
                    <a:pt x="129" y="33"/>
                    <a:pt x="122" y="36"/>
                  </a:cubicBezTo>
                  <a:cubicBezTo>
                    <a:pt x="116" y="39"/>
                    <a:pt x="112" y="43"/>
                    <a:pt x="111" y="49"/>
                  </a:cubicBezTo>
                  <a:cubicBezTo>
                    <a:pt x="110" y="56"/>
                    <a:pt x="111" y="65"/>
                    <a:pt x="114" y="77"/>
                  </a:cubicBezTo>
                  <a:cubicBezTo>
                    <a:pt x="119" y="97"/>
                    <a:pt x="120" y="114"/>
                    <a:pt x="115" y="126"/>
                  </a:cubicBezTo>
                  <a:cubicBezTo>
                    <a:pt x="111" y="138"/>
                    <a:pt x="102" y="147"/>
                    <a:pt x="87" y="154"/>
                  </a:cubicBezTo>
                  <a:cubicBezTo>
                    <a:pt x="78" y="158"/>
                    <a:pt x="68" y="159"/>
                    <a:pt x="58" y="158"/>
                  </a:cubicBezTo>
                  <a:cubicBezTo>
                    <a:pt x="48" y="156"/>
                    <a:pt x="39" y="152"/>
                    <a:pt x="31" y="144"/>
                  </a:cubicBezTo>
                  <a:cubicBezTo>
                    <a:pt x="23" y="137"/>
                    <a:pt x="16" y="128"/>
                    <a:pt x="10" y="116"/>
                  </a:cubicBezTo>
                  <a:cubicBezTo>
                    <a:pt x="3" y="100"/>
                    <a:pt x="0" y="85"/>
                    <a:pt x="2" y="72"/>
                  </a:cubicBezTo>
                  <a:cubicBezTo>
                    <a:pt x="4" y="58"/>
                    <a:pt x="10" y="47"/>
                    <a:pt x="20" y="38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37" y="63"/>
                    <a:pt x="33" y="70"/>
                    <a:pt x="32" y="78"/>
                  </a:cubicBezTo>
                  <a:cubicBezTo>
                    <a:pt x="31" y="86"/>
                    <a:pt x="32" y="95"/>
                    <a:pt x="37" y="104"/>
                  </a:cubicBezTo>
                  <a:cubicBezTo>
                    <a:pt x="41" y="114"/>
                    <a:pt x="46" y="120"/>
                    <a:pt x="52" y="123"/>
                  </a:cubicBezTo>
                  <a:cubicBezTo>
                    <a:pt x="58" y="126"/>
                    <a:pt x="65" y="126"/>
                    <a:pt x="72" y="123"/>
                  </a:cubicBezTo>
                  <a:cubicBezTo>
                    <a:pt x="79" y="120"/>
                    <a:pt x="83" y="115"/>
                    <a:pt x="85" y="108"/>
                  </a:cubicBezTo>
                  <a:cubicBezTo>
                    <a:pt x="86" y="101"/>
                    <a:pt x="86" y="90"/>
                    <a:pt x="82" y="76"/>
                  </a:cubicBezTo>
                  <a:cubicBezTo>
                    <a:pt x="77" y="58"/>
                    <a:pt x="77" y="43"/>
                    <a:pt x="81" y="32"/>
                  </a:cubicBezTo>
                  <a:cubicBezTo>
                    <a:pt x="85" y="20"/>
                    <a:pt x="94" y="12"/>
                    <a:pt x="107" y="6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5" name="康帅5-26"/>
            <p:cNvSpPr/>
            <p:nvPr/>
          </p:nvSpPr>
          <p:spPr bwMode="auto">
            <a:xfrm>
              <a:off x="3767" y="1295"/>
              <a:ext cx="246" cy="111"/>
            </a:xfrm>
            <a:custGeom>
              <a:avLst/>
              <a:gdLst>
                <a:gd name="T0" fmla="*/ 246 w 246"/>
                <a:gd name="T1" fmla="*/ 44 h 111"/>
                <a:gd name="T2" fmla="*/ 12 w 246"/>
                <a:gd name="T3" fmla="*/ 111 h 111"/>
                <a:gd name="T4" fmla="*/ 0 w 246"/>
                <a:gd name="T5" fmla="*/ 67 h 111"/>
                <a:gd name="T6" fmla="*/ 233 w 246"/>
                <a:gd name="T7" fmla="*/ 0 h 111"/>
                <a:gd name="T8" fmla="*/ 246 w 246"/>
                <a:gd name="T9" fmla="*/ 4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111">
                  <a:moveTo>
                    <a:pt x="246" y="44"/>
                  </a:moveTo>
                  <a:lnTo>
                    <a:pt x="12" y="111"/>
                  </a:lnTo>
                  <a:lnTo>
                    <a:pt x="0" y="67"/>
                  </a:lnTo>
                  <a:lnTo>
                    <a:pt x="233" y="0"/>
                  </a:lnTo>
                  <a:lnTo>
                    <a:pt x="246" y="44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6" name="康帅5-27"/>
            <p:cNvSpPr/>
            <p:nvPr/>
          </p:nvSpPr>
          <p:spPr bwMode="auto">
            <a:xfrm>
              <a:off x="3798" y="1398"/>
              <a:ext cx="255" cy="179"/>
            </a:xfrm>
            <a:custGeom>
              <a:avLst/>
              <a:gdLst>
                <a:gd name="T0" fmla="*/ 217 w 255"/>
                <a:gd name="T1" fmla="*/ 179 h 179"/>
                <a:gd name="T2" fmla="*/ 209 w 255"/>
                <a:gd name="T3" fmla="*/ 115 h 179"/>
                <a:gd name="T4" fmla="*/ 6 w 255"/>
                <a:gd name="T5" fmla="*/ 142 h 179"/>
                <a:gd name="T6" fmla="*/ 0 w 255"/>
                <a:gd name="T7" fmla="*/ 96 h 179"/>
                <a:gd name="T8" fmla="*/ 202 w 255"/>
                <a:gd name="T9" fmla="*/ 69 h 179"/>
                <a:gd name="T10" fmla="*/ 194 w 255"/>
                <a:gd name="T11" fmla="*/ 6 h 179"/>
                <a:gd name="T12" fmla="*/ 232 w 255"/>
                <a:gd name="T13" fmla="*/ 0 h 179"/>
                <a:gd name="T14" fmla="*/ 255 w 255"/>
                <a:gd name="T15" fmla="*/ 173 h 179"/>
                <a:gd name="T16" fmla="*/ 217 w 255"/>
                <a:gd name="T17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5" h="179">
                  <a:moveTo>
                    <a:pt x="217" y="179"/>
                  </a:moveTo>
                  <a:lnTo>
                    <a:pt x="209" y="115"/>
                  </a:lnTo>
                  <a:lnTo>
                    <a:pt x="6" y="142"/>
                  </a:lnTo>
                  <a:lnTo>
                    <a:pt x="0" y="96"/>
                  </a:lnTo>
                  <a:lnTo>
                    <a:pt x="202" y="69"/>
                  </a:lnTo>
                  <a:lnTo>
                    <a:pt x="194" y="6"/>
                  </a:lnTo>
                  <a:lnTo>
                    <a:pt x="232" y="0"/>
                  </a:lnTo>
                  <a:lnTo>
                    <a:pt x="255" y="173"/>
                  </a:lnTo>
                  <a:lnTo>
                    <a:pt x="217" y="179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7" name="康帅5-28"/>
            <p:cNvSpPr/>
            <p:nvPr/>
          </p:nvSpPr>
          <p:spPr bwMode="auto">
            <a:xfrm>
              <a:off x="3804" y="1623"/>
              <a:ext cx="253" cy="211"/>
            </a:xfrm>
            <a:custGeom>
              <a:avLst/>
              <a:gdLst>
                <a:gd name="T0" fmla="*/ 96 w 253"/>
                <a:gd name="T1" fmla="*/ 117 h 211"/>
                <a:gd name="T2" fmla="*/ 0 w 253"/>
                <a:gd name="T3" fmla="*/ 109 h 211"/>
                <a:gd name="T4" fmla="*/ 4 w 253"/>
                <a:gd name="T5" fmla="*/ 63 h 211"/>
                <a:gd name="T6" fmla="*/ 100 w 253"/>
                <a:gd name="T7" fmla="*/ 71 h 211"/>
                <a:gd name="T8" fmla="*/ 253 w 253"/>
                <a:gd name="T9" fmla="*/ 0 h 211"/>
                <a:gd name="T10" fmla="*/ 249 w 253"/>
                <a:gd name="T11" fmla="*/ 51 h 211"/>
                <a:gd name="T12" fmla="*/ 134 w 253"/>
                <a:gd name="T13" fmla="*/ 97 h 211"/>
                <a:gd name="T14" fmla="*/ 241 w 253"/>
                <a:gd name="T15" fmla="*/ 161 h 211"/>
                <a:gd name="T16" fmla="*/ 237 w 253"/>
                <a:gd name="T17" fmla="*/ 211 h 211"/>
                <a:gd name="T18" fmla="*/ 96 w 253"/>
                <a:gd name="T19" fmla="*/ 11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3" h="211">
                  <a:moveTo>
                    <a:pt x="96" y="117"/>
                  </a:moveTo>
                  <a:lnTo>
                    <a:pt x="0" y="109"/>
                  </a:lnTo>
                  <a:lnTo>
                    <a:pt x="4" y="63"/>
                  </a:lnTo>
                  <a:lnTo>
                    <a:pt x="100" y="71"/>
                  </a:lnTo>
                  <a:lnTo>
                    <a:pt x="253" y="0"/>
                  </a:lnTo>
                  <a:lnTo>
                    <a:pt x="249" y="51"/>
                  </a:lnTo>
                  <a:lnTo>
                    <a:pt x="134" y="97"/>
                  </a:lnTo>
                  <a:lnTo>
                    <a:pt x="241" y="161"/>
                  </a:lnTo>
                  <a:lnTo>
                    <a:pt x="237" y="211"/>
                  </a:lnTo>
                  <a:lnTo>
                    <a:pt x="96" y="117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8" name="康帅5-29"/>
            <p:cNvSpPr/>
            <p:nvPr/>
          </p:nvSpPr>
          <p:spPr bwMode="auto">
            <a:xfrm>
              <a:off x="2609" y="2605"/>
              <a:ext cx="73" cy="191"/>
            </a:xfrm>
            <a:custGeom>
              <a:avLst/>
              <a:gdLst>
                <a:gd name="T0" fmla="*/ 73 w 73"/>
                <a:gd name="T1" fmla="*/ 191 h 191"/>
                <a:gd name="T2" fmla="*/ 39 w 73"/>
                <a:gd name="T3" fmla="*/ 191 h 191"/>
                <a:gd name="T4" fmla="*/ 39 w 73"/>
                <a:gd name="T5" fmla="*/ 40 h 191"/>
                <a:gd name="T6" fmla="*/ 0 w 73"/>
                <a:gd name="T7" fmla="*/ 63 h 191"/>
                <a:gd name="T8" fmla="*/ 0 w 73"/>
                <a:gd name="T9" fmla="*/ 27 h 191"/>
                <a:gd name="T10" fmla="*/ 48 w 73"/>
                <a:gd name="T11" fmla="*/ 0 h 191"/>
                <a:gd name="T12" fmla="*/ 73 w 73"/>
                <a:gd name="T13" fmla="*/ 0 h 191"/>
                <a:gd name="T14" fmla="*/ 73 w 73"/>
                <a:gd name="T1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191">
                  <a:moveTo>
                    <a:pt x="73" y="191"/>
                  </a:moveTo>
                  <a:lnTo>
                    <a:pt x="39" y="191"/>
                  </a:lnTo>
                  <a:lnTo>
                    <a:pt x="39" y="40"/>
                  </a:lnTo>
                  <a:lnTo>
                    <a:pt x="0" y="63"/>
                  </a:lnTo>
                  <a:lnTo>
                    <a:pt x="0" y="27"/>
                  </a:lnTo>
                  <a:lnTo>
                    <a:pt x="48" y="0"/>
                  </a:lnTo>
                  <a:lnTo>
                    <a:pt x="73" y="0"/>
                  </a:lnTo>
                  <a:lnTo>
                    <a:pt x="73" y="191"/>
                  </a:ln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9" name="康帅5-30"/>
            <p:cNvSpPr>
              <a:spLocks noEditPoints="1"/>
            </p:cNvSpPr>
            <p:nvPr/>
          </p:nvSpPr>
          <p:spPr bwMode="auto">
            <a:xfrm>
              <a:off x="2724" y="2601"/>
              <a:ext cx="130" cy="195"/>
            </a:xfrm>
            <a:custGeom>
              <a:avLst/>
              <a:gdLst>
                <a:gd name="T0" fmla="*/ 96 w 96"/>
                <a:gd name="T1" fmla="*/ 48 h 144"/>
                <a:gd name="T2" fmla="*/ 91 w 96"/>
                <a:gd name="T3" fmla="*/ 77 h 144"/>
                <a:gd name="T4" fmla="*/ 75 w 96"/>
                <a:gd name="T5" fmla="*/ 107 h 144"/>
                <a:gd name="T6" fmla="*/ 50 w 96"/>
                <a:gd name="T7" fmla="*/ 144 h 144"/>
                <a:gd name="T8" fmla="*/ 22 w 96"/>
                <a:gd name="T9" fmla="*/ 144 h 144"/>
                <a:gd name="T10" fmla="*/ 52 w 96"/>
                <a:gd name="T11" fmla="*/ 102 h 144"/>
                <a:gd name="T12" fmla="*/ 62 w 96"/>
                <a:gd name="T13" fmla="*/ 86 h 144"/>
                <a:gd name="T14" fmla="*/ 43 w 96"/>
                <a:gd name="T15" fmla="*/ 91 h 144"/>
                <a:gd name="T16" fmla="*/ 21 w 96"/>
                <a:gd name="T17" fmla="*/ 85 h 144"/>
                <a:gd name="T18" fmla="*/ 6 w 96"/>
                <a:gd name="T19" fmla="*/ 69 h 144"/>
                <a:gd name="T20" fmla="*/ 0 w 96"/>
                <a:gd name="T21" fmla="*/ 46 h 144"/>
                <a:gd name="T22" fmla="*/ 6 w 96"/>
                <a:gd name="T23" fmla="*/ 22 h 144"/>
                <a:gd name="T24" fmla="*/ 23 w 96"/>
                <a:gd name="T25" fmla="*/ 6 h 144"/>
                <a:gd name="T26" fmla="*/ 48 w 96"/>
                <a:gd name="T27" fmla="*/ 0 h 144"/>
                <a:gd name="T28" fmla="*/ 73 w 96"/>
                <a:gd name="T29" fmla="*/ 6 h 144"/>
                <a:gd name="T30" fmla="*/ 90 w 96"/>
                <a:gd name="T31" fmla="*/ 23 h 144"/>
                <a:gd name="T32" fmla="*/ 96 w 96"/>
                <a:gd name="T33" fmla="*/ 48 h 144"/>
                <a:gd name="T34" fmla="*/ 48 w 96"/>
                <a:gd name="T35" fmla="*/ 70 h 144"/>
                <a:gd name="T36" fmla="*/ 65 w 96"/>
                <a:gd name="T37" fmla="*/ 64 h 144"/>
                <a:gd name="T38" fmla="*/ 72 w 96"/>
                <a:gd name="T39" fmla="*/ 48 h 144"/>
                <a:gd name="T40" fmla="*/ 72 w 96"/>
                <a:gd name="T41" fmla="*/ 46 h 144"/>
                <a:gd name="T42" fmla="*/ 65 w 96"/>
                <a:gd name="T43" fmla="*/ 28 h 144"/>
                <a:gd name="T44" fmla="*/ 48 w 96"/>
                <a:gd name="T45" fmla="*/ 21 h 144"/>
                <a:gd name="T46" fmla="*/ 31 w 96"/>
                <a:gd name="T47" fmla="*/ 28 h 144"/>
                <a:gd name="T48" fmla="*/ 25 w 96"/>
                <a:gd name="T49" fmla="*/ 46 h 144"/>
                <a:gd name="T50" fmla="*/ 31 w 96"/>
                <a:gd name="T51" fmla="*/ 63 h 144"/>
                <a:gd name="T52" fmla="*/ 48 w 96"/>
                <a:gd name="T53" fmla="*/ 7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" h="144">
                  <a:moveTo>
                    <a:pt x="96" y="48"/>
                  </a:moveTo>
                  <a:cubicBezTo>
                    <a:pt x="96" y="58"/>
                    <a:pt x="95" y="67"/>
                    <a:pt x="91" y="77"/>
                  </a:cubicBezTo>
                  <a:cubicBezTo>
                    <a:pt x="88" y="86"/>
                    <a:pt x="82" y="96"/>
                    <a:pt x="75" y="107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22" y="144"/>
                    <a:pt x="22" y="144"/>
                    <a:pt x="22" y="144"/>
                  </a:cubicBezTo>
                  <a:cubicBezTo>
                    <a:pt x="52" y="102"/>
                    <a:pt x="52" y="102"/>
                    <a:pt x="52" y="102"/>
                  </a:cubicBezTo>
                  <a:cubicBezTo>
                    <a:pt x="57" y="96"/>
                    <a:pt x="60" y="90"/>
                    <a:pt x="62" y="86"/>
                  </a:cubicBezTo>
                  <a:cubicBezTo>
                    <a:pt x="57" y="89"/>
                    <a:pt x="50" y="91"/>
                    <a:pt x="43" y="91"/>
                  </a:cubicBezTo>
                  <a:cubicBezTo>
                    <a:pt x="35" y="91"/>
                    <a:pt x="27" y="89"/>
                    <a:pt x="21" y="85"/>
                  </a:cubicBezTo>
                  <a:cubicBezTo>
                    <a:pt x="14" y="81"/>
                    <a:pt x="9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cubicBezTo>
                    <a:pt x="0" y="37"/>
                    <a:pt x="2" y="29"/>
                    <a:pt x="6" y="22"/>
                  </a:cubicBezTo>
                  <a:cubicBezTo>
                    <a:pt x="10" y="15"/>
                    <a:pt x="16" y="10"/>
                    <a:pt x="23" y="6"/>
                  </a:cubicBezTo>
                  <a:cubicBezTo>
                    <a:pt x="31" y="2"/>
                    <a:pt x="39" y="0"/>
                    <a:pt x="48" y="0"/>
                  </a:cubicBezTo>
                  <a:cubicBezTo>
                    <a:pt x="58" y="0"/>
                    <a:pt x="66" y="2"/>
                    <a:pt x="73" y="6"/>
                  </a:cubicBezTo>
                  <a:cubicBezTo>
                    <a:pt x="81" y="10"/>
                    <a:pt x="86" y="16"/>
                    <a:pt x="90" y="23"/>
                  </a:cubicBezTo>
                  <a:cubicBezTo>
                    <a:pt x="94" y="30"/>
                    <a:pt x="96" y="39"/>
                    <a:pt x="96" y="48"/>
                  </a:cubicBezTo>
                  <a:close/>
                  <a:moveTo>
                    <a:pt x="48" y="70"/>
                  </a:moveTo>
                  <a:cubicBezTo>
                    <a:pt x="55" y="70"/>
                    <a:pt x="61" y="68"/>
                    <a:pt x="65" y="64"/>
                  </a:cubicBezTo>
                  <a:cubicBezTo>
                    <a:pt x="69" y="60"/>
                    <a:pt x="71" y="55"/>
                    <a:pt x="72" y="48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38"/>
                    <a:pt x="70" y="32"/>
                    <a:pt x="65" y="28"/>
                  </a:cubicBezTo>
                  <a:cubicBezTo>
                    <a:pt x="61" y="23"/>
                    <a:pt x="55" y="21"/>
                    <a:pt x="48" y="21"/>
                  </a:cubicBezTo>
                  <a:cubicBezTo>
                    <a:pt x="41" y="21"/>
                    <a:pt x="36" y="23"/>
                    <a:pt x="31" y="28"/>
                  </a:cubicBezTo>
                  <a:cubicBezTo>
                    <a:pt x="27" y="32"/>
                    <a:pt x="25" y="38"/>
                    <a:pt x="25" y="46"/>
                  </a:cubicBezTo>
                  <a:cubicBezTo>
                    <a:pt x="25" y="53"/>
                    <a:pt x="27" y="59"/>
                    <a:pt x="31" y="63"/>
                  </a:cubicBezTo>
                  <a:cubicBezTo>
                    <a:pt x="35" y="68"/>
                    <a:pt x="41" y="70"/>
                    <a:pt x="48" y="70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50" name="康帅5-31"/>
            <p:cNvSpPr>
              <a:spLocks noEditPoints="1"/>
            </p:cNvSpPr>
            <p:nvPr/>
          </p:nvSpPr>
          <p:spPr bwMode="auto">
            <a:xfrm>
              <a:off x="2878" y="2601"/>
              <a:ext cx="134" cy="198"/>
            </a:xfrm>
            <a:custGeom>
              <a:avLst/>
              <a:gdLst>
                <a:gd name="T0" fmla="*/ 99 w 99"/>
                <a:gd name="T1" fmla="*/ 102 h 146"/>
                <a:gd name="T2" fmla="*/ 93 w 99"/>
                <a:gd name="T3" fmla="*/ 125 h 146"/>
                <a:gd name="T4" fmla="*/ 76 w 99"/>
                <a:gd name="T5" fmla="*/ 140 h 146"/>
                <a:gd name="T6" fmla="*/ 50 w 99"/>
                <a:gd name="T7" fmla="*/ 146 h 146"/>
                <a:gd name="T8" fmla="*/ 24 w 99"/>
                <a:gd name="T9" fmla="*/ 140 h 146"/>
                <a:gd name="T10" fmla="*/ 6 w 99"/>
                <a:gd name="T11" fmla="*/ 125 h 146"/>
                <a:gd name="T12" fmla="*/ 0 w 99"/>
                <a:gd name="T13" fmla="*/ 102 h 146"/>
                <a:gd name="T14" fmla="*/ 6 w 99"/>
                <a:gd name="T15" fmla="*/ 81 h 146"/>
                <a:gd name="T16" fmla="*/ 22 w 99"/>
                <a:gd name="T17" fmla="*/ 67 h 146"/>
                <a:gd name="T18" fmla="*/ 10 w 99"/>
                <a:gd name="T19" fmla="*/ 55 h 146"/>
                <a:gd name="T20" fmla="*/ 6 w 99"/>
                <a:gd name="T21" fmla="*/ 39 h 146"/>
                <a:gd name="T22" fmla="*/ 11 w 99"/>
                <a:gd name="T23" fmla="*/ 19 h 146"/>
                <a:gd name="T24" fmla="*/ 26 w 99"/>
                <a:gd name="T25" fmla="*/ 5 h 146"/>
                <a:gd name="T26" fmla="*/ 50 w 99"/>
                <a:gd name="T27" fmla="*/ 0 h 146"/>
                <a:gd name="T28" fmla="*/ 73 w 99"/>
                <a:gd name="T29" fmla="*/ 5 h 146"/>
                <a:gd name="T30" fmla="*/ 88 w 99"/>
                <a:gd name="T31" fmla="*/ 19 h 146"/>
                <a:gd name="T32" fmla="*/ 93 w 99"/>
                <a:gd name="T33" fmla="*/ 39 h 146"/>
                <a:gd name="T34" fmla="*/ 89 w 99"/>
                <a:gd name="T35" fmla="*/ 55 h 146"/>
                <a:gd name="T36" fmla="*/ 77 w 99"/>
                <a:gd name="T37" fmla="*/ 67 h 146"/>
                <a:gd name="T38" fmla="*/ 93 w 99"/>
                <a:gd name="T39" fmla="*/ 81 h 146"/>
                <a:gd name="T40" fmla="*/ 99 w 99"/>
                <a:gd name="T41" fmla="*/ 102 h 146"/>
                <a:gd name="T42" fmla="*/ 75 w 99"/>
                <a:gd name="T43" fmla="*/ 101 h 146"/>
                <a:gd name="T44" fmla="*/ 68 w 99"/>
                <a:gd name="T45" fmla="*/ 83 h 146"/>
                <a:gd name="T46" fmla="*/ 50 w 99"/>
                <a:gd name="T47" fmla="*/ 76 h 146"/>
                <a:gd name="T48" fmla="*/ 31 w 99"/>
                <a:gd name="T49" fmla="*/ 83 h 146"/>
                <a:gd name="T50" fmla="*/ 24 w 99"/>
                <a:gd name="T51" fmla="*/ 101 h 146"/>
                <a:gd name="T52" fmla="*/ 31 w 99"/>
                <a:gd name="T53" fmla="*/ 119 h 146"/>
                <a:gd name="T54" fmla="*/ 50 w 99"/>
                <a:gd name="T55" fmla="*/ 126 h 146"/>
                <a:gd name="T56" fmla="*/ 68 w 99"/>
                <a:gd name="T57" fmla="*/ 119 h 146"/>
                <a:gd name="T58" fmla="*/ 75 w 99"/>
                <a:gd name="T59" fmla="*/ 101 h 146"/>
                <a:gd name="T60" fmla="*/ 29 w 99"/>
                <a:gd name="T61" fmla="*/ 39 h 146"/>
                <a:gd name="T62" fmla="*/ 35 w 99"/>
                <a:gd name="T63" fmla="*/ 53 h 146"/>
                <a:gd name="T64" fmla="*/ 50 w 99"/>
                <a:gd name="T65" fmla="*/ 58 h 146"/>
                <a:gd name="T66" fmla="*/ 65 w 99"/>
                <a:gd name="T67" fmla="*/ 53 h 146"/>
                <a:gd name="T68" fmla="*/ 70 w 99"/>
                <a:gd name="T69" fmla="*/ 39 h 146"/>
                <a:gd name="T70" fmla="*/ 65 w 99"/>
                <a:gd name="T71" fmla="*/ 24 h 146"/>
                <a:gd name="T72" fmla="*/ 50 w 99"/>
                <a:gd name="T73" fmla="*/ 19 h 146"/>
                <a:gd name="T74" fmla="*/ 35 w 99"/>
                <a:gd name="T75" fmla="*/ 24 h 146"/>
                <a:gd name="T76" fmla="*/ 29 w 99"/>
                <a:gd name="T77" fmla="*/ 3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9" h="146">
                  <a:moveTo>
                    <a:pt x="99" y="102"/>
                  </a:moveTo>
                  <a:cubicBezTo>
                    <a:pt x="99" y="110"/>
                    <a:pt x="97" y="118"/>
                    <a:pt x="93" y="125"/>
                  </a:cubicBezTo>
                  <a:cubicBezTo>
                    <a:pt x="89" y="132"/>
                    <a:pt x="83" y="137"/>
                    <a:pt x="76" y="140"/>
                  </a:cubicBezTo>
                  <a:cubicBezTo>
                    <a:pt x="68" y="144"/>
                    <a:pt x="59" y="146"/>
                    <a:pt x="50" y="146"/>
                  </a:cubicBezTo>
                  <a:cubicBezTo>
                    <a:pt x="40" y="146"/>
                    <a:pt x="31" y="144"/>
                    <a:pt x="24" y="140"/>
                  </a:cubicBezTo>
                  <a:cubicBezTo>
                    <a:pt x="16" y="137"/>
                    <a:pt x="10" y="132"/>
                    <a:pt x="6" y="125"/>
                  </a:cubicBezTo>
                  <a:cubicBezTo>
                    <a:pt x="2" y="118"/>
                    <a:pt x="0" y="110"/>
                    <a:pt x="0" y="102"/>
                  </a:cubicBezTo>
                  <a:cubicBezTo>
                    <a:pt x="0" y="94"/>
                    <a:pt x="2" y="87"/>
                    <a:pt x="6" y="81"/>
                  </a:cubicBezTo>
                  <a:cubicBezTo>
                    <a:pt x="10" y="75"/>
                    <a:pt x="15" y="70"/>
                    <a:pt x="22" y="67"/>
                  </a:cubicBezTo>
                  <a:cubicBezTo>
                    <a:pt x="17" y="64"/>
                    <a:pt x="13" y="60"/>
                    <a:pt x="10" y="55"/>
                  </a:cubicBezTo>
                  <a:cubicBezTo>
                    <a:pt x="7" y="50"/>
                    <a:pt x="6" y="45"/>
                    <a:pt x="6" y="39"/>
                  </a:cubicBezTo>
                  <a:cubicBezTo>
                    <a:pt x="6" y="32"/>
                    <a:pt x="8" y="25"/>
                    <a:pt x="11" y="19"/>
                  </a:cubicBezTo>
                  <a:cubicBezTo>
                    <a:pt x="15" y="13"/>
                    <a:pt x="20" y="9"/>
                    <a:pt x="26" y="5"/>
                  </a:cubicBezTo>
                  <a:cubicBezTo>
                    <a:pt x="33" y="2"/>
                    <a:pt x="41" y="0"/>
                    <a:pt x="50" y="0"/>
                  </a:cubicBezTo>
                  <a:cubicBezTo>
                    <a:pt x="58" y="0"/>
                    <a:pt x="66" y="2"/>
                    <a:pt x="73" y="5"/>
                  </a:cubicBezTo>
                  <a:cubicBezTo>
                    <a:pt x="79" y="9"/>
                    <a:pt x="84" y="13"/>
                    <a:pt x="88" y="19"/>
                  </a:cubicBezTo>
                  <a:cubicBezTo>
                    <a:pt x="91" y="25"/>
                    <a:pt x="93" y="32"/>
                    <a:pt x="93" y="39"/>
                  </a:cubicBezTo>
                  <a:cubicBezTo>
                    <a:pt x="93" y="45"/>
                    <a:pt x="92" y="50"/>
                    <a:pt x="89" y="55"/>
                  </a:cubicBezTo>
                  <a:cubicBezTo>
                    <a:pt x="86" y="60"/>
                    <a:pt x="82" y="64"/>
                    <a:pt x="77" y="67"/>
                  </a:cubicBezTo>
                  <a:cubicBezTo>
                    <a:pt x="84" y="70"/>
                    <a:pt x="89" y="75"/>
                    <a:pt x="93" y="81"/>
                  </a:cubicBezTo>
                  <a:cubicBezTo>
                    <a:pt x="97" y="87"/>
                    <a:pt x="99" y="94"/>
                    <a:pt x="99" y="102"/>
                  </a:cubicBezTo>
                  <a:close/>
                  <a:moveTo>
                    <a:pt x="75" y="101"/>
                  </a:moveTo>
                  <a:cubicBezTo>
                    <a:pt x="75" y="94"/>
                    <a:pt x="73" y="88"/>
                    <a:pt x="68" y="83"/>
                  </a:cubicBezTo>
                  <a:cubicBezTo>
                    <a:pt x="64" y="79"/>
                    <a:pt x="58" y="76"/>
                    <a:pt x="50" y="76"/>
                  </a:cubicBezTo>
                  <a:cubicBezTo>
                    <a:pt x="42" y="76"/>
                    <a:pt x="35" y="79"/>
                    <a:pt x="31" y="83"/>
                  </a:cubicBezTo>
                  <a:cubicBezTo>
                    <a:pt x="26" y="88"/>
                    <a:pt x="24" y="94"/>
                    <a:pt x="24" y="101"/>
                  </a:cubicBezTo>
                  <a:cubicBezTo>
                    <a:pt x="24" y="109"/>
                    <a:pt x="26" y="115"/>
                    <a:pt x="31" y="119"/>
                  </a:cubicBezTo>
                  <a:cubicBezTo>
                    <a:pt x="35" y="124"/>
                    <a:pt x="42" y="126"/>
                    <a:pt x="50" y="126"/>
                  </a:cubicBezTo>
                  <a:cubicBezTo>
                    <a:pt x="58" y="126"/>
                    <a:pt x="64" y="124"/>
                    <a:pt x="68" y="119"/>
                  </a:cubicBezTo>
                  <a:cubicBezTo>
                    <a:pt x="73" y="115"/>
                    <a:pt x="75" y="109"/>
                    <a:pt x="75" y="101"/>
                  </a:cubicBezTo>
                  <a:close/>
                  <a:moveTo>
                    <a:pt x="29" y="39"/>
                  </a:moveTo>
                  <a:cubicBezTo>
                    <a:pt x="29" y="44"/>
                    <a:pt x="31" y="49"/>
                    <a:pt x="35" y="53"/>
                  </a:cubicBezTo>
                  <a:cubicBezTo>
                    <a:pt x="38" y="56"/>
                    <a:pt x="43" y="58"/>
                    <a:pt x="50" y="58"/>
                  </a:cubicBezTo>
                  <a:cubicBezTo>
                    <a:pt x="56" y="58"/>
                    <a:pt x="61" y="56"/>
                    <a:pt x="65" y="53"/>
                  </a:cubicBezTo>
                  <a:cubicBezTo>
                    <a:pt x="68" y="49"/>
                    <a:pt x="70" y="44"/>
                    <a:pt x="70" y="39"/>
                  </a:cubicBezTo>
                  <a:cubicBezTo>
                    <a:pt x="70" y="33"/>
                    <a:pt x="68" y="28"/>
                    <a:pt x="65" y="24"/>
                  </a:cubicBezTo>
                  <a:cubicBezTo>
                    <a:pt x="61" y="21"/>
                    <a:pt x="56" y="19"/>
                    <a:pt x="50" y="19"/>
                  </a:cubicBezTo>
                  <a:cubicBezTo>
                    <a:pt x="43" y="19"/>
                    <a:pt x="38" y="21"/>
                    <a:pt x="35" y="24"/>
                  </a:cubicBezTo>
                  <a:cubicBezTo>
                    <a:pt x="31" y="28"/>
                    <a:pt x="29" y="33"/>
                    <a:pt x="29" y="39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51" name="康帅5-32"/>
            <p:cNvSpPr>
              <a:spLocks noEditPoints="1"/>
            </p:cNvSpPr>
            <p:nvPr/>
          </p:nvSpPr>
          <p:spPr bwMode="auto">
            <a:xfrm>
              <a:off x="3034" y="2601"/>
              <a:ext cx="134" cy="198"/>
            </a:xfrm>
            <a:custGeom>
              <a:avLst/>
              <a:gdLst>
                <a:gd name="T0" fmla="*/ 99 w 99"/>
                <a:gd name="T1" fmla="*/ 102 h 146"/>
                <a:gd name="T2" fmla="*/ 93 w 99"/>
                <a:gd name="T3" fmla="*/ 125 h 146"/>
                <a:gd name="T4" fmla="*/ 76 w 99"/>
                <a:gd name="T5" fmla="*/ 140 h 146"/>
                <a:gd name="T6" fmla="*/ 50 w 99"/>
                <a:gd name="T7" fmla="*/ 146 h 146"/>
                <a:gd name="T8" fmla="*/ 24 w 99"/>
                <a:gd name="T9" fmla="*/ 140 h 146"/>
                <a:gd name="T10" fmla="*/ 6 w 99"/>
                <a:gd name="T11" fmla="*/ 125 h 146"/>
                <a:gd name="T12" fmla="*/ 0 w 99"/>
                <a:gd name="T13" fmla="*/ 102 h 146"/>
                <a:gd name="T14" fmla="*/ 6 w 99"/>
                <a:gd name="T15" fmla="*/ 81 h 146"/>
                <a:gd name="T16" fmla="*/ 22 w 99"/>
                <a:gd name="T17" fmla="*/ 67 h 146"/>
                <a:gd name="T18" fmla="*/ 10 w 99"/>
                <a:gd name="T19" fmla="*/ 55 h 146"/>
                <a:gd name="T20" fmla="*/ 6 w 99"/>
                <a:gd name="T21" fmla="*/ 39 h 146"/>
                <a:gd name="T22" fmla="*/ 12 w 99"/>
                <a:gd name="T23" fmla="*/ 19 h 146"/>
                <a:gd name="T24" fmla="*/ 27 w 99"/>
                <a:gd name="T25" fmla="*/ 5 h 146"/>
                <a:gd name="T26" fmla="*/ 50 w 99"/>
                <a:gd name="T27" fmla="*/ 0 h 146"/>
                <a:gd name="T28" fmla="*/ 73 w 99"/>
                <a:gd name="T29" fmla="*/ 5 h 146"/>
                <a:gd name="T30" fmla="*/ 88 w 99"/>
                <a:gd name="T31" fmla="*/ 19 h 146"/>
                <a:gd name="T32" fmla="*/ 93 w 99"/>
                <a:gd name="T33" fmla="*/ 39 h 146"/>
                <a:gd name="T34" fmla="*/ 89 w 99"/>
                <a:gd name="T35" fmla="*/ 55 h 146"/>
                <a:gd name="T36" fmla="*/ 78 w 99"/>
                <a:gd name="T37" fmla="*/ 67 h 146"/>
                <a:gd name="T38" fmla="*/ 94 w 99"/>
                <a:gd name="T39" fmla="*/ 81 h 146"/>
                <a:gd name="T40" fmla="*/ 99 w 99"/>
                <a:gd name="T41" fmla="*/ 102 h 146"/>
                <a:gd name="T42" fmla="*/ 76 w 99"/>
                <a:gd name="T43" fmla="*/ 101 h 146"/>
                <a:gd name="T44" fmla="*/ 69 w 99"/>
                <a:gd name="T45" fmla="*/ 83 h 146"/>
                <a:gd name="T46" fmla="*/ 50 w 99"/>
                <a:gd name="T47" fmla="*/ 76 h 146"/>
                <a:gd name="T48" fmla="*/ 31 w 99"/>
                <a:gd name="T49" fmla="*/ 83 h 146"/>
                <a:gd name="T50" fmla="*/ 24 w 99"/>
                <a:gd name="T51" fmla="*/ 101 h 146"/>
                <a:gd name="T52" fmla="*/ 31 w 99"/>
                <a:gd name="T53" fmla="*/ 119 h 146"/>
                <a:gd name="T54" fmla="*/ 50 w 99"/>
                <a:gd name="T55" fmla="*/ 126 h 146"/>
                <a:gd name="T56" fmla="*/ 69 w 99"/>
                <a:gd name="T57" fmla="*/ 119 h 146"/>
                <a:gd name="T58" fmla="*/ 76 w 99"/>
                <a:gd name="T59" fmla="*/ 101 h 146"/>
                <a:gd name="T60" fmla="*/ 29 w 99"/>
                <a:gd name="T61" fmla="*/ 39 h 146"/>
                <a:gd name="T62" fmla="*/ 35 w 99"/>
                <a:gd name="T63" fmla="*/ 53 h 146"/>
                <a:gd name="T64" fmla="*/ 50 w 99"/>
                <a:gd name="T65" fmla="*/ 58 h 146"/>
                <a:gd name="T66" fmla="*/ 65 w 99"/>
                <a:gd name="T67" fmla="*/ 53 h 146"/>
                <a:gd name="T68" fmla="*/ 71 w 99"/>
                <a:gd name="T69" fmla="*/ 39 h 146"/>
                <a:gd name="T70" fmla="*/ 65 w 99"/>
                <a:gd name="T71" fmla="*/ 24 h 146"/>
                <a:gd name="T72" fmla="*/ 50 w 99"/>
                <a:gd name="T73" fmla="*/ 19 h 146"/>
                <a:gd name="T74" fmla="*/ 35 w 99"/>
                <a:gd name="T75" fmla="*/ 24 h 146"/>
                <a:gd name="T76" fmla="*/ 29 w 99"/>
                <a:gd name="T77" fmla="*/ 3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9" h="146">
                  <a:moveTo>
                    <a:pt x="99" y="102"/>
                  </a:moveTo>
                  <a:cubicBezTo>
                    <a:pt x="99" y="110"/>
                    <a:pt x="97" y="118"/>
                    <a:pt x="93" y="125"/>
                  </a:cubicBezTo>
                  <a:cubicBezTo>
                    <a:pt x="89" y="132"/>
                    <a:pt x="83" y="137"/>
                    <a:pt x="76" y="140"/>
                  </a:cubicBezTo>
                  <a:cubicBezTo>
                    <a:pt x="68" y="144"/>
                    <a:pt x="60" y="146"/>
                    <a:pt x="50" y="146"/>
                  </a:cubicBezTo>
                  <a:cubicBezTo>
                    <a:pt x="40" y="146"/>
                    <a:pt x="31" y="144"/>
                    <a:pt x="24" y="140"/>
                  </a:cubicBezTo>
                  <a:cubicBezTo>
                    <a:pt x="16" y="137"/>
                    <a:pt x="11" y="132"/>
                    <a:pt x="6" y="125"/>
                  </a:cubicBezTo>
                  <a:cubicBezTo>
                    <a:pt x="2" y="118"/>
                    <a:pt x="0" y="110"/>
                    <a:pt x="0" y="102"/>
                  </a:cubicBezTo>
                  <a:cubicBezTo>
                    <a:pt x="0" y="94"/>
                    <a:pt x="2" y="87"/>
                    <a:pt x="6" y="81"/>
                  </a:cubicBezTo>
                  <a:cubicBezTo>
                    <a:pt x="10" y="75"/>
                    <a:pt x="15" y="70"/>
                    <a:pt x="22" y="67"/>
                  </a:cubicBezTo>
                  <a:cubicBezTo>
                    <a:pt x="17" y="64"/>
                    <a:pt x="13" y="60"/>
                    <a:pt x="10" y="55"/>
                  </a:cubicBezTo>
                  <a:cubicBezTo>
                    <a:pt x="8" y="50"/>
                    <a:pt x="6" y="45"/>
                    <a:pt x="6" y="39"/>
                  </a:cubicBezTo>
                  <a:cubicBezTo>
                    <a:pt x="6" y="32"/>
                    <a:pt x="8" y="25"/>
                    <a:pt x="12" y="19"/>
                  </a:cubicBezTo>
                  <a:cubicBezTo>
                    <a:pt x="15" y="13"/>
                    <a:pt x="20" y="9"/>
                    <a:pt x="27" y="5"/>
                  </a:cubicBezTo>
                  <a:cubicBezTo>
                    <a:pt x="33" y="2"/>
                    <a:pt x="41" y="0"/>
                    <a:pt x="50" y="0"/>
                  </a:cubicBezTo>
                  <a:cubicBezTo>
                    <a:pt x="59" y="0"/>
                    <a:pt x="66" y="2"/>
                    <a:pt x="73" y="5"/>
                  </a:cubicBezTo>
                  <a:cubicBezTo>
                    <a:pt x="80" y="9"/>
                    <a:pt x="85" y="13"/>
                    <a:pt x="88" y="19"/>
                  </a:cubicBezTo>
                  <a:cubicBezTo>
                    <a:pt x="92" y="25"/>
                    <a:pt x="93" y="32"/>
                    <a:pt x="93" y="39"/>
                  </a:cubicBezTo>
                  <a:cubicBezTo>
                    <a:pt x="93" y="45"/>
                    <a:pt x="92" y="50"/>
                    <a:pt x="89" y="55"/>
                  </a:cubicBezTo>
                  <a:cubicBezTo>
                    <a:pt x="87" y="60"/>
                    <a:pt x="83" y="64"/>
                    <a:pt x="78" y="67"/>
                  </a:cubicBezTo>
                  <a:cubicBezTo>
                    <a:pt x="84" y="70"/>
                    <a:pt x="90" y="75"/>
                    <a:pt x="94" y="81"/>
                  </a:cubicBezTo>
                  <a:cubicBezTo>
                    <a:pt x="98" y="87"/>
                    <a:pt x="99" y="94"/>
                    <a:pt x="99" y="102"/>
                  </a:cubicBezTo>
                  <a:close/>
                  <a:moveTo>
                    <a:pt x="76" y="101"/>
                  </a:moveTo>
                  <a:cubicBezTo>
                    <a:pt x="76" y="94"/>
                    <a:pt x="73" y="88"/>
                    <a:pt x="69" y="83"/>
                  </a:cubicBezTo>
                  <a:cubicBezTo>
                    <a:pt x="64" y="79"/>
                    <a:pt x="58" y="76"/>
                    <a:pt x="50" y="76"/>
                  </a:cubicBezTo>
                  <a:cubicBezTo>
                    <a:pt x="42" y="76"/>
                    <a:pt x="36" y="79"/>
                    <a:pt x="31" y="83"/>
                  </a:cubicBezTo>
                  <a:cubicBezTo>
                    <a:pt x="26" y="88"/>
                    <a:pt x="24" y="94"/>
                    <a:pt x="24" y="101"/>
                  </a:cubicBezTo>
                  <a:cubicBezTo>
                    <a:pt x="24" y="109"/>
                    <a:pt x="26" y="115"/>
                    <a:pt x="31" y="119"/>
                  </a:cubicBezTo>
                  <a:cubicBezTo>
                    <a:pt x="36" y="124"/>
                    <a:pt x="42" y="126"/>
                    <a:pt x="50" y="126"/>
                  </a:cubicBezTo>
                  <a:cubicBezTo>
                    <a:pt x="58" y="126"/>
                    <a:pt x="64" y="124"/>
                    <a:pt x="69" y="119"/>
                  </a:cubicBezTo>
                  <a:cubicBezTo>
                    <a:pt x="73" y="115"/>
                    <a:pt x="76" y="109"/>
                    <a:pt x="76" y="101"/>
                  </a:cubicBezTo>
                  <a:close/>
                  <a:moveTo>
                    <a:pt x="29" y="39"/>
                  </a:moveTo>
                  <a:cubicBezTo>
                    <a:pt x="29" y="44"/>
                    <a:pt x="31" y="49"/>
                    <a:pt x="35" y="53"/>
                  </a:cubicBezTo>
                  <a:cubicBezTo>
                    <a:pt x="39" y="56"/>
                    <a:pt x="44" y="58"/>
                    <a:pt x="50" y="58"/>
                  </a:cubicBezTo>
                  <a:cubicBezTo>
                    <a:pt x="56" y="58"/>
                    <a:pt x="61" y="56"/>
                    <a:pt x="65" y="53"/>
                  </a:cubicBezTo>
                  <a:cubicBezTo>
                    <a:pt x="69" y="49"/>
                    <a:pt x="71" y="44"/>
                    <a:pt x="71" y="39"/>
                  </a:cubicBezTo>
                  <a:cubicBezTo>
                    <a:pt x="71" y="33"/>
                    <a:pt x="69" y="28"/>
                    <a:pt x="65" y="24"/>
                  </a:cubicBezTo>
                  <a:cubicBezTo>
                    <a:pt x="61" y="21"/>
                    <a:pt x="56" y="19"/>
                    <a:pt x="50" y="19"/>
                  </a:cubicBezTo>
                  <a:cubicBezTo>
                    <a:pt x="44" y="19"/>
                    <a:pt x="39" y="21"/>
                    <a:pt x="35" y="24"/>
                  </a:cubicBezTo>
                  <a:cubicBezTo>
                    <a:pt x="31" y="28"/>
                    <a:pt x="29" y="33"/>
                    <a:pt x="29" y="39"/>
                  </a:cubicBezTo>
                  <a:close/>
                </a:path>
              </a:pathLst>
            </a:custGeom>
            <a:grpFill/>
            <a:ln w="2921" cap="flat">
              <a:noFill/>
              <a:prstDash val="solid"/>
              <a:miter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52" name="康帅7"/>
          <p:cNvSpPr txBox="1"/>
          <p:nvPr/>
        </p:nvSpPr>
        <p:spPr>
          <a:xfrm>
            <a:off x="663682" y="1965531"/>
            <a:ext cx="7883418" cy="830580"/>
          </a:xfrm>
          <a:prstGeom prst="rect">
            <a:avLst/>
          </a:prstGeom>
          <a:solidFill>
            <a:srgbClr val="9A0000"/>
          </a:solidFill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Times New Roman" panose="02020603050405020304" pitchFamily="18" charset="0"/>
                <a:sym typeface="思源黑体 CN Bold" panose="020B0800000000000000" pitchFamily="34" charset="-122"/>
              </a:rPr>
              <a:t>Thanks</a:t>
            </a:r>
          </a:p>
        </p:txBody>
      </p:sp>
      <p:grpSp>
        <p:nvGrpSpPr>
          <p:cNvPr id="117" name="康帅11"/>
          <p:cNvGrpSpPr/>
          <p:nvPr/>
        </p:nvGrpSpPr>
        <p:grpSpPr>
          <a:xfrm>
            <a:off x="580390" y="4373379"/>
            <a:ext cx="7969250" cy="452120"/>
            <a:chOff x="558694" y="4361314"/>
            <a:chExt cx="7969250" cy="452120"/>
          </a:xfrm>
          <a:solidFill>
            <a:srgbClr val="9A0000"/>
          </a:solidFill>
        </p:grpSpPr>
        <p:sp>
          <p:nvSpPr>
            <p:cNvPr id="118" name="康帅11-1"/>
            <p:cNvSpPr/>
            <p:nvPr/>
          </p:nvSpPr>
          <p:spPr>
            <a:xfrm>
              <a:off x="804439" y="4361314"/>
              <a:ext cx="7723505" cy="452120"/>
            </a:xfrm>
            <a:prstGeom prst="rect">
              <a:avLst/>
            </a:prstGeom>
            <a:grpFill/>
            <a:effectLst/>
          </p:spPr>
          <p:txBody>
            <a:bodyPr wrap="square" lIns="97841" tIns="48920" rIns="97841" bIns="48920">
              <a:noAutofit/>
            </a:bodyPr>
            <a:lstStyle/>
            <a:p>
              <a:pPr lvl="0" algn="l"/>
              <a:r>
                <a:rPr lang="en-US" altLang="zh-CN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Date: </a:t>
              </a:r>
              <a:r>
                <a:rPr lang="en-US" altLang="zh-CN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June 2nd</a:t>
              </a:r>
            </a:p>
          </p:txBody>
        </p:sp>
        <p:sp>
          <p:nvSpPr>
            <p:cNvPr id="119" name="康帅11-2"/>
            <p:cNvSpPr/>
            <p:nvPr/>
          </p:nvSpPr>
          <p:spPr>
            <a:xfrm>
              <a:off x="558694" y="4407669"/>
              <a:ext cx="303609" cy="303609"/>
            </a:xfrm>
            <a:prstGeom prst="ellipse">
              <a:avLst/>
            </a:prstGeom>
            <a:solidFill>
              <a:schemeClr val="bg1"/>
            </a:solidFill>
            <a:ln w="13589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7841" tIns="48920" rIns="97841" bIns="489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925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pSp>
          <p:nvGrpSpPr>
            <p:cNvPr id="120" name="Group 4"/>
            <p:cNvGrpSpPr>
              <a:grpSpLocks noChangeAspect="1"/>
            </p:cNvGrpSpPr>
            <p:nvPr/>
          </p:nvGrpSpPr>
          <p:grpSpPr bwMode="auto">
            <a:xfrm>
              <a:off x="623037" y="4482995"/>
              <a:ext cx="181639" cy="178077"/>
              <a:chOff x="1904" y="1224"/>
              <a:chExt cx="815" cy="799"/>
            </a:xfrm>
            <a:grpFill/>
          </p:grpSpPr>
          <p:sp>
            <p:nvSpPr>
              <p:cNvPr id="121" name="康帅11-4"/>
              <p:cNvSpPr/>
              <p:nvPr/>
            </p:nvSpPr>
            <p:spPr bwMode="auto">
              <a:xfrm>
                <a:off x="2263" y="1229"/>
                <a:ext cx="456" cy="471"/>
              </a:xfrm>
              <a:custGeom>
                <a:avLst/>
                <a:gdLst>
                  <a:gd name="T0" fmla="*/ 297 w 349"/>
                  <a:gd name="T1" fmla="*/ 0 h 362"/>
                  <a:gd name="T2" fmla="*/ 19 w 349"/>
                  <a:gd name="T3" fmla="*/ 0 h 362"/>
                  <a:gd name="T4" fmla="*/ 0 w 349"/>
                  <a:gd name="T5" fmla="*/ 20 h 362"/>
                  <a:gd name="T6" fmla="*/ 19 w 349"/>
                  <a:gd name="T7" fmla="*/ 39 h 362"/>
                  <a:gd name="T8" fmla="*/ 297 w 349"/>
                  <a:gd name="T9" fmla="*/ 39 h 362"/>
                  <a:gd name="T10" fmla="*/ 310 w 349"/>
                  <a:gd name="T11" fmla="*/ 52 h 362"/>
                  <a:gd name="T12" fmla="*/ 310 w 349"/>
                  <a:gd name="T13" fmla="*/ 310 h 362"/>
                  <a:gd name="T14" fmla="*/ 297 w 349"/>
                  <a:gd name="T15" fmla="*/ 322 h 362"/>
                  <a:gd name="T16" fmla="*/ 19 w 349"/>
                  <a:gd name="T17" fmla="*/ 322 h 362"/>
                  <a:gd name="T18" fmla="*/ 0 w 349"/>
                  <a:gd name="T19" fmla="*/ 342 h 362"/>
                  <a:gd name="T20" fmla="*/ 19 w 349"/>
                  <a:gd name="T21" fmla="*/ 362 h 362"/>
                  <a:gd name="T22" fmla="*/ 297 w 349"/>
                  <a:gd name="T23" fmla="*/ 362 h 362"/>
                  <a:gd name="T24" fmla="*/ 349 w 349"/>
                  <a:gd name="T25" fmla="*/ 310 h 362"/>
                  <a:gd name="T26" fmla="*/ 349 w 349"/>
                  <a:gd name="T27" fmla="*/ 52 h 362"/>
                  <a:gd name="T28" fmla="*/ 297 w 349"/>
                  <a:gd name="T29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49" h="362">
                    <a:moveTo>
                      <a:pt x="297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39"/>
                      <a:pt x="19" y="39"/>
                    </a:cubicBezTo>
                    <a:cubicBezTo>
                      <a:pt x="297" y="39"/>
                      <a:pt x="297" y="39"/>
                      <a:pt x="297" y="39"/>
                    </a:cubicBezTo>
                    <a:cubicBezTo>
                      <a:pt x="304" y="39"/>
                      <a:pt x="310" y="45"/>
                      <a:pt x="310" y="52"/>
                    </a:cubicBezTo>
                    <a:cubicBezTo>
                      <a:pt x="310" y="310"/>
                      <a:pt x="310" y="310"/>
                      <a:pt x="310" y="310"/>
                    </a:cubicBezTo>
                    <a:cubicBezTo>
                      <a:pt x="310" y="317"/>
                      <a:pt x="304" y="322"/>
                      <a:pt x="297" y="322"/>
                    </a:cubicBezTo>
                    <a:cubicBezTo>
                      <a:pt x="19" y="322"/>
                      <a:pt x="19" y="322"/>
                      <a:pt x="19" y="322"/>
                    </a:cubicBezTo>
                    <a:cubicBezTo>
                      <a:pt x="9" y="322"/>
                      <a:pt x="0" y="331"/>
                      <a:pt x="0" y="342"/>
                    </a:cubicBezTo>
                    <a:cubicBezTo>
                      <a:pt x="0" y="353"/>
                      <a:pt x="9" y="362"/>
                      <a:pt x="19" y="362"/>
                    </a:cubicBezTo>
                    <a:cubicBezTo>
                      <a:pt x="297" y="362"/>
                      <a:pt x="297" y="362"/>
                      <a:pt x="297" y="362"/>
                    </a:cubicBezTo>
                    <a:cubicBezTo>
                      <a:pt x="326" y="362"/>
                      <a:pt x="349" y="338"/>
                      <a:pt x="349" y="310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9" y="24"/>
                      <a:pt x="326" y="0"/>
                      <a:pt x="29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  <a:effectLst/>
            </p:spPr>
            <p:txBody>
              <a:bodyPr vert="horz" wrap="square" lIns="97841" tIns="48920" rIns="97841" bIns="48920" numCol="1" anchor="t" anchorCtr="0" compatLnSpc="1"/>
              <a:lstStyle/>
              <a:p>
                <a:endParaRPr lang="zh-CN" altLang="en-US" sz="1925">
                  <a:solidFill>
                    <a:schemeClr val="bg1"/>
                  </a:solidFill>
                  <a:latin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康帅11-5"/>
              <p:cNvSpPr>
                <a:spLocks noEditPoints="1"/>
              </p:cNvSpPr>
              <p:nvPr/>
            </p:nvSpPr>
            <p:spPr bwMode="auto">
              <a:xfrm>
                <a:off x="1904" y="1224"/>
                <a:ext cx="720" cy="799"/>
              </a:xfrm>
              <a:custGeom>
                <a:avLst/>
                <a:gdLst>
                  <a:gd name="T0" fmla="*/ 423 w 551"/>
                  <a:gd name="T1" fmla="*/ 309 h 614"/>
                  <a:gd name="T2" fmla="*/ 456 w 551"/>
                  <a:gd name="T3" fmla="*/ 222 h 614"/>
                  <a:gd name="T4" fmla="*/ 507 w 551"/>
                  <a:gd name="T5" fmla="*/ 256 h 614"/>
                  <a:gd name="T6" fmla="*/ 549 w 551"/>
                  <a:gd name="T7" fmla="*/ 93 h 614"/>
                  <a:gd name="T8" fmla="*/ 510 w 551"/>
                  <a:gd name="T9" fmla="*/ 86 h 614"/>
                  <a:gd name="T10" fmla="*/ 459 w 551"/>
                  <a:gd name="T11" fmla="*/ 171 h 614"/>
                  <a:gd name="T12" fmla="*/ 427 w 551"/>
                  <a:gd name="T13" fmla="*/ 180 h 614"/>
                  <a:gd name="T14" fmla="*/ 399 w 551"/>
                  <a:gd name="T15" fmla="*/ 237 h 614"/>
                  <a:gd name="T16" fmla="*/ 369 w 551"/>
                  <a:gd name="T17" fmla="*/ 263 h 614"/>
                  <a:gd name="T18" fmla="*/ 419 w 551"/>
                  <a:gd name="T19" fmla="*/ 310 h 614"/>
                  <a:gd name="T20" fmla="*/ 218 w 551"/>
                  <a:gd name="T21" fmla="*/ 85 h 614"/>
                  <a:gd name="T22" fmla="*/ 48 w 551"/>
                  <a:gd name="T23" fmla="*/ 85 h 614"/>
                  <a:gd name="T24" fmla="*/ 133 w 551"/>
                  <a:gd name="T25" fmla="*/ 39 h 614"/>
                  <a:gd name="T26" fmla="*/ 133 w 551"/>
                  <a:gd name="T27" fmla="*/ 132 h 614"/>
                  <a:gd name="T28" fmla="*/ 133 w 551"/>
                  <a:gd name="T29" fmla="*/ 39 h 614"/>
                  <a:gd name="T30" fmla="*/ 296 w 551"/>
                  <a:gd name="T31" fmla="*/ 183 h 614"/>
                  <a:gd name="T32" fmla="*/ 12 w 551"/>
                  <a:gd name="T33" fmla="*/ 196 h 614"/>
                  <a:gd name="T34" fmla="*/ 6 w 551"/>
                  <a:gd name="T35" fmla="*/ 381 h 614"/>
                  <a:gd name="T36" fmla="*/ 47 w 551"/>
                  <a:gd name="T37" fmla="*/ 430 h 614"/>
                  <a:gd name="T38" fmla="*/ 60 w 551"/>
                  <a:gd name="T39" fmla="*/ 562 h 614"/>
                  <a:gd name="T40" fmla="*/ 117 w 551"/>
                  <a:gd name="T41" fmla="*/ 614 h 614"/>
                  <a:gd name="T42" fmla="*/ 206 w 551"/>
                  <a:gd name="T43" fmla="*/ 562 h 614"/>
                  <a:gd name="T44" fmla="*/ 235 w 551"/>
                  <a:gd name="T45" fmla="*/ 298 h 614"/>
                  <a:gd name="T46" fmla="*/ 343 w 551"/>
                  <a:gd name="T47" fmla="*/ 230 h 614"/>
                  <a:gd name="T48" fmla="*/ 224 w 551"/>
                  <a:gd name="T49" fmla="*/ 261 h 614"/>
                  <a:gd name="T50" fmla="*/ 167 w 551"/>
                  <a:gd name="T51" fmla="*/ 559 h 614"/>
                  <a:gd name="T52" fmla="*/ 117 w 551"/>
                  <a:gd name="T53" fmla="*/ 575 h 614"/>
                  <a:gd name="T54" fmla="*/ 88 w 551"/>
                  <a:gd name="T55" fmla="*/ 429 h 614"/>
                  <a:gd name="T56" fmla="*/ 46 w 551"/>
                  <a:gd name="T57" fmla="*/ 382 h 614"/>
                  <a:gd name="T58" fmla="*/ 40 w 551"/>
                  <a:gd name="T59" fmla="*/ 226 h 614"/>
                  <a:gd name="T60" fmla="*/ 43 w 551"/>
                  <a:gd name="T61" fmla="*/ 222 h 614"/>
                  <a:gd name="T62" fmla="*/ 304 w 551"/>
                  <a:gd name="T63" fmla="*/ 230 h 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1" h="614">
                    <a:moveTo>
                      <a:pt x="419" y="310"/>
                    </a:moveTo>
                    <a:cubicBezTo>
                      <a:pt x="420" y="310"/>
                      <a:pt x="422" y="310"/>
                      <a:pt x="423" y="309"/>
                    </a:cubicBezTo>
                    <a:cubicBezTo>
                      <a:pt x="430" y="308"/>
                      <a:pt x="436" y="302"/>
                      <a:pt x="438" y="295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88" y="252"/>
                      <a:pt x="488" y="252"/>
                      <a:pt x="488" y="252"/>
                    </a:cubicBezTo>
                    <a:cubicBezTo>
                      <a:pt x="493" y="257"/>
                      <a:pt x="501" y="258"/>
                      <a:pt x="507" y="256"/>
                    </a:cubicBezTo>
                    <a:cubicBezTo>
                      <a:pt x="514" y="254"/>
                      <a:pt x="519" y="248"/>
                      <a:pt x="521" y="241"/>
                    </a:cubicBezTo>
                    <a:cubicBezTo>
                      <a:pt x="549" y="93"/>
                      <a:pt x="549" y="93"/>
                      <a:pt x="549" y="93"/>
                    </a:cubicBezTo>
                    <a:cubicBezTo>
                      <a:pt x="551" y="82"/>
                      <a:pt x="544" y="72"/>
                      <a:pt x="533" y="70"/>
                    </a:cubicBezTo>
                    <a:cubicBezTo>
                      <a:pt x="523" y="68"/>
                      <a:pt x="512" y="75"/>
                      <a:pt x="510" y="86"/>
                    </a:cubicBezTo>
                    <a:cubicBezTo>
                      <a:pt x="489" y="199"/>
                      <a:pt x="489" y="199"/>
                      <a:pt x="489" y="199"/>
                    </a:cubicBezTo>
                    <a:cubicBezTo>
                      <a:pt x="459" y="171"/>
                      <a:pt x="459" y="171"/>
                      <a:pt x="459" y="171"/>
                    </a:cubicBezTo>
                    <a:cubicBezTo>
                      <a:pt x="454" y="166"/>
                      <a:pt x="447" y="164"/>
                      <a:pt x="441" y="166"/>
                    </a:cubicBezTo>
                    <a:cubicBezTo>
                      <a:pt x="434" y="168"/>
                      <a:pt x="429" y="173"/>
                      <a:pt x="427" y="180"/>
                    </a:cubicBezTo>
                    <a:cubicBezTo>
                      <a:pt x="409" y="249"/>
                      <a:pt x="409" y="249"/>
                      <a:pt x="409" y="249"/>
                    </a:cubicBezTo>
                    <a:cubicBezTo>
                      <a:pt x="399" y="237"/>
                      <a:pt x="399" y="237"/>
                      <a:pt x="399" y="237"/>
                    </a:cubicBezTo>
                    <a:cubicBezTo>
                      <a:pt x="392" y="229"/>
                      <a:pt x="379" y="228"/>
                      <a:pt x="371" y="235"/>
                    </a:cubicBezTo>
                    <a:cubicBezTo>
                      <a:pt x="363" y="242"/>
                      <a:pt x="362" y="254"/>
                      <a:pt x="369" y="263"/>
                    </a:cubicBezTo>
                    <a:cubicBezTo>
                      <a:pt x="404" y="303"/>
                      <a:pt x="404" y="303"/>
                      <a:pt x="404" y="303"/>
                    </a:cubicBezTo>
                    <a:cubicBezTo>
                      <a:pt x="408" y="307"/>
                      <a:pt x="413" y="310"/>
                      <a:pt x="419" y="310"/>
                    </a:cubicBezTo>
                    <a:close/>
                    <a:moveTo>
                      <a:pt x="133" y="171"/>
                    </a:moveTo>
                    <a:cubicBezTo>
                      <a:pt x="180" y="171"/>
                      <a:pt x="218" y="132"/>
                      <a:pt x="218" y="85"/>
                    </a:cubicBezTo>
                    <a:cubicBezTo>
                      <a:pt x="218" y="38"/>
                      <a:pt x="180" y="0"/>
                      <a:pt x="133" y="0"/>
                    </a:cubicBezTo>
                    <a:cubicBezTo>
                      <a:pt x="86" y="0"/>
                      <a:pt x="48" y="38"/>
                      <a:pt x="48" y="85"/>
                    </a:cubicBezTo>
                    <a:cubicBezTo>
                      <a:pt x="48" y="132"/>
                      <a:pt x="86" y="171"/>
                      <a:pt x="133" y="171"/>
                    </a:cubicBezTo>
                    <a:close/>
                    <a:moveTo>
                      <a:pt x="133" y="39"/>
                    </a:moveTo>
                    <a:cubicBezTo>
                      <a:pt x="158" y="39"/>
                      <a:pt x="179" y="60"/>
                      <a:pt x="179" y="85"/>
                    </a:cubicBezTo>
                    <a:cubicBezTo>
                      <a:pt x="179" y="111"/>
                      <a:pt x="159" y="132"/>
                      <a:pt x="133" y="132"/>
                    </a:cubicBezTo>
                    <a:cubicBezTo>
                      <a:pt x="107" y="132"/>
                      <a:pt x="87" y="111"/>
                      <a:pt x="87" y="85"/>
                    </a:cubicBezTo>
                    <a:cubicBezTo>
                      <a:pt x="87" y="60"/>
                      <a:pt x="108" y="39"/>
                      <a:pt x="133" y="39"/>
                    </a:cubicBezTo>
                    <a:close/>
                    <a:moveTo>
                      <a:pt x="343" y="230"/>
                    </a:moveTo>
                    <a:cubicBezTo>
                      <a:pt x="343" y="204"/>
                      <a:pt x="322" y="183"/>
                      <a:pt x="296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31" y="183"/>
                      <a:pt x="21" y="188"/>
                      <a:pt x="12" y="196"/>
                    </a:cubicBezTo>
                    <a:cubicBezTo>
                      <a:pt x="4" y="204"/>
                      <a:pt x="0" y="215"/>
                      <a:pt x="1" y="227"/>
                    </a:cubicBezTo>
                    <a:cubicBezTo>
                      <a:pt x="6" y="381"/>
                      <a:pt x="6" y="381"/>
                      <a:pt x="6" y="381"/>
                    </a:cubicBezTo>
                    <a:cubicBezTo>
                      <a:pt x="7" y="394"/>
                      <a:pt x="13" y="407"/>
                      <a:pt x="24" y="414"/>
                    </a:cubicBezTo>
                    <a:cubicBezTo>
                      <a:pt x="47" y="430"/>
                      <a:pt x="47" y="430"/>
                      <a:pt x="47" y="430"/>
                    </a:cubicBezTo>
                    <a:cubicBezTo>
                      <a:pt x="48" y="430"/>
                      <a:pt x="49" y="431"/>
                      <a:pt x="49" y="432"/>
                    </a:cubicBezTo>
                    <a:cubicBezTo>
                      <a:pt x="60" y="562"/>
                      <a:pt x="60" y="562"/>
                      <a:pt x="60" y="562"/>
                    </a:cubicBezTo>
                    <a:cubicBezTo>
                      <a:pt x="61" y="576"/>
                      <a:pt x="68" y="589"/>
                      <a:pt x="78" y="599"/>
                    </a:cubicBezTo>
                    <a:cubicBezTo>
                      <a:pt x="89" y="609"/>
                      <a:pt x="103" y="614"/>
                      <a:pt x="117" y="614"/>
                    </a:cubicBezTo>
                    <a:cubicBezTo>
                      <a:pt x="149" y="614"/>
                      <a:pt x="149" y="614"/>
                      <a:pt x="149" y="614"/>
                    </a:cubicBezTo>
                    <a:cubicBezTo>
                      <a:pt x="178" y="614"/>
                      <a:pt x="203" y="592"/>
                      <a:pt x="206" y="562"/>
                    </a:cubicBezTo>
                    <a:cubicBezTo>
                      <a:pt x="233" y="301"/>
                      <a:pt x="233" y="301"/>
                      <a:pt x="233" y="301"/>
                    </a:cubicBezTo>
                    <a:cubicBezTo>
                      <a:pt x="233" y="299"/>
                      <a:pt x="234" y="298"/>
                      <a:pt x="235" y="298"/>
                    </a:cubicBezTo>
                    <a:cubicBezTo>
                      <a:pt x="310" y="275"/>
                      <a:pt x="310" y="275"/>
                      <a:pt x="310" y="275"/>
                    </a:cubicBezTo>
                    <a:cubicBezTo>
                      <a:pt x="330" y="269"/>
                      <a:pt x="343" y="251"/>
                      <a:pt x="343" y="230"/>
                    </a:cubicBezTo>
                    <a:close/>
                    <a:moveTo>
                      <a:pt x="299" y="238"/>
                    </a:moveTo>
                    <a:cubicBezTo>
                      <a:pt x="224" y="261"/>
                      <a:pt x="224" y="261"/>
                      <a:pt x="224" y="261"/>
                    </a:cubicBezTo>
                    <a:cubicBezTo>
                      <a:pt x="207" y="266"/>
                      <a:pt x="196" y="280"/>
                      <a:pt x="194" y="297"/>
                    </a:cubicBezTo>
                    <a:cubicBezTo>
                      <a:pt x="167" y="559"/>
                      <a:pt x="167" y="559"/>
                      <a:pt x="167" y="559"/>
                    </a:cubicBezTo>
                    <a:cubicBezTo>
                      <a:pt x="166" y="568"/>
                      <a:pt x="158" y="575"/>
                      <a:pt x="149" y="575"/>
                    </a:cubicBezTo>
                    <a:cubicBezTo>
                      <a:pt x="117" y="575"/>
                      <a:pt x="117" y="575"/>
                      <a:pt x="117" y="575"/>
                    </a:cubicBezTo>
                    <a:cubicBezTo>
                      <a:pt x="107" y="575"/>
                      <a:pt x="100" y="568"/>
                      <a:pt x="99" y="558"/>
                    </a:cubicBezTo>
                    <a:cubicBezTo>
                      <a:pt x="88" y="429"/>
                      <a:pt x="88" y="429"/>
                      <a:pt x="88" y="429"/>
                    </a:cubicBezTo>
                    <a:cubicBezTo>
                      <a:pt x="87" y="416"/>
                      <a:pt x="80" y="405"/>
                      <a:pt x="69" y="398"/>
                    </a:cubicBezTo>
                    <a:cubicBezTo>
                      <a:pt x="46" y="382"/>
                      <a:pt x="46" y="382"/>
                      <a:pt x="46" y="382"/>
                    </a:cubicBezTo>
                    <a:cubicBezTo>
                      <a:pt x="46" y="382"/>
                      <a:pt x="45" y="381"/>
                      <a:pt x="45" y="380"/>
                    </a:cubicBezTo>
                    <a:cubicBezTo>
                      <a:pt x="40" y="226"/>
                      <a:pt x="40" y="226"/>
                      <a:pt x="40" y="226"/>
                    </a:cubicBezTo>
                    <a:cubicBezTo>
                      <a:pt x="40" y="225"/>
                      <a:pt x="40" y="224"/>
                      <a:pt x="41" y="223"/>
                    </a:cubicBezTo>
                    <a:cubicBezTo>
                      <a:pt x="41" y="223"/>
                      <a:pt x="42" y="222"/>
                      <a:pt x="43" y="222"/>
                    </a:cubicBezTo>
                    <a:cubicBezTo>
                      <a:pt x="296" y="222"/>
                      <a:pt x="296" y="222"/>
                      <a:pt x="296" y="222"/>
                    </a:cubicBezTo>
                    <a:cubicBezTo>
                      <a:pt x="301" y="222"/>
                      <a:pt x="304" y="226"/>
                      <a:pt x="304" y="230"/>
                    </a:cubicBezTo>
                    <a:cubicBezTo>
                      <a:pt x="304" y="234"/>
                      <a:pt x="302" y="237"/>
                      <a:pt x="299" y="238"/>
                    </a:cubicBezTo>
                    <a:close/>
                  </a:path>
                </a:pathLst>
              </a:custGeom>
              <a:solidFill>
                <a:srgbClr val="9A0000"/>
              </a:solidFill>
              <a:ln w="9525">
                <a:noFill/>
                <a:round/>
              </a:ln>
              <a:effectLst/>
            </p:spPr>
            <p:txBody>
              <a:bodyPr vert="horz" wrap="square" lIns="97841" tIns="48920" rIns="97841" bIns="48920" numCol="1" anchor="t" anchorCtr="0" compatLnSpc="1"/>
              <a:lstStyle/>
              <a:p>
                <a:endParaRPr lang="zh-CN" altLang="en-US" sz="1925">
                  <a:solidFill>
                    <a:schemeClr val="bg1"/>
                  </a:solidFill>
                  <a:latin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2" name="康帅11-3"/>
          <p:cNvSpPr/>
          <p:nvPr/>
        </p:nvSpPr>
        <p:spPr>
          <a:xfrm>
            <a:off x="745490" y="3924300"/>
            <a:ext cx="7242175" cy="37465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9A0000"/>
                </a:solidFill>
              </a14:hiddenFill>
            </a:ext>
          </a:extLst>
        </p:spPr>
        <p:txBody>
          <a:bodyPr wrap="square" lIns="97841" tIns="48920" rIns="97841" bIns="4892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Xuanxin Chen, Zhenzhen Xu, Hao Wu, Qinzhou Zhang, Xiaolong Guo</a:t>
            </a:r>
          </a:p>
        </p:txBody>
      </p:sp>
      <p:sp>
        <p:nvSpPr>
          <p:cNvPr id="23" name="康帅11-6"/>
          <p:cNvSpPr/>
          <p:nvPr/>
        </p:nvSpPr>
        <p:spPr>
          <a:xfrm>
            <a:off x="580095" y="3945389"/>
            <a:ext cx="303609" cy="303609"/>
          </a:xfrm>
          <a:prstGeom prst="ellipse">
            <a:avLst/>
          </a:prstGeom>
          <a:solidFill>
            <a:schemeClr val="bg1"/>
          </a:solidFill>
          <a:ln w="13589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7841" tIns="48920" rIns="97841" bIns="489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925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5" name="康帅11-7"/>
          <p:cNvSpPr>
            <a:spLocks noEditPoints="1"/>
          </p:cNvSpPr>
          <p:nvPr/>
        </p:nvSpPr>
        <p:spPr bwMode="auto">
          <a:xfrm>
            <a:off x="651583" y="3990167"/>
            <a:ext cx="160633" cy="186873"/>
          </a:xfrm>
          <a:custGeom>
            <a:avLst/>
            <a:gdLst>
              <a:gd name="T0" fmla="*/ 688 w 701"/>
              <a:gd name="T1" fmla="*/ 820 h 820"/>
              <a:gd name="T2" fmla="*/ 21 w 701"/>
              <a:gd name="T3" fmla="*/ 820 h 820"/>
              <a:gd name="T4" fmla="*/ 0 w 701"/>
              <a:gd name="T5" fmla="*/ 800 h 820"/>
              <a:gd name="T6" fmla="*/ 99 w 701"/>
              <a:gd name="T7" fmla="*/ 512 h 820"/>
              <a:gd name="T8" fmla="*/ 113 w 701"/>
              <a:gd name="T9" fmla="*/ 507 h 820"/>
              <a:gd name="T10" fmla="*/ 204 w 701"/>
              <a:gd name="T11" fmla="*/ 549 h 820"/>
              <a:gd name="T12" fmla="*/ 58 w 701"/>
              <a:gd name="T13" fmla="*/ 665 h 820"/>
              <a:gd name="T14" fmla="*/ 655 w 701"/>
              <a:gd name="T15" fmla="*/ 779 h 820"/>
              <a:gd name="T16" fmla="*/ 573 w 701"/>
              <a:gd name="T17" fmla="*/ 548 h 820"/>
              <a:gd name="T18" fmla="*/ 477 w 701"/>
              <a:gd name="T19" fmla="*/ 507 h 820"/>
              <a:gd name="T20" fmla="*/ 595 w 701"/>
              <a:gd name="T21" fmla="*/ 509 h 820"/>
              <a:gd name="T22" fmla="*/ 696 w 701"/>
              <a:gd name="T23" fmla="*/ 807 h 820"/>
              <a:gd name="T24" fmla="*/ 300 w 701"/>
              <a:gd name="T25" fmla="*/ 711 h 820"/>
              <a:gd name="T26" fmla="*/ 322 w 701"/>
              <a:gd name="T27" fmla="*/ 547 h 820"/>
              <a:gd name="T28" fmla="*/ 381 w 701"/>
              <a:gd name="T29" fmla="*/ 525 h 820"/>
              <a:gd name="T30" fmla="*/ 369 w 701"/>
              <a:gd name="T31" fmla="*/ 569 h 820"/>
              <a:gd name="T32" fmla="*/ 354 w 701"/>
              <a:gd name="T33" fmla="*/ 752 h 820"/>
              <a:gd name="T34" fmla="*/ 454 w 701"/>
              <a:gd name="T35" fmla="*/ 452 h 820"/>
              <a:gd name="T36" fmla="*/ 345 w 701"/>
              <a:gd name="T37" fmla="*/ 508 h 820"/>
              <a:gd name="T38" fmla="*/ 239 w 701"/>
              <a:gd name="T39" fmla="*/ 455 h 820"/>
              <a:gd name="T40" fmla="*/ 149 w 701"/>
              <a:gd name="T41" fmla="*/ 309 h 820"/>
              <a:gd name="T42" fmla="*/ 139 w 701"/>
              <a:gd name="T43" fmla="*/ 236 h 820"/>
              <a:gd name="T44" fmla="*/ 156 w 701"/>
              <a:gd name="T45" fmla="*/ 226 h 820"/>
              <a:gd name="T46" fmla="*/ 353 w 701"/>
              <a:gd name="T47" fmla="*/ 25 h 820"/>
              <a:gd name="T48" fmla="*/ 540 w 701"/>
              <a:gd name="T49" fmla="*/ 231 h 820"/>
              <a:gd name="T50" fmla="*/ 548 w 701"/>
              <a:gd name="T51" fmla="*/ 246 h 820"/>
              <a:gd name="T52" fmla="*/ 512 w 701"/>
              <a:gd name="T53" fmla="*/ 341 h 820"/>
              <a:gd name="T54" fmla="*/ 490 w 701"/>
              <a:gd name="T55" fmla="*/ 256 h 820"/>
              <a:gd name="T56" fmla="*/ 481 w 701"/>
              <a:gd name="T57" fmla="*/ 240 h 820"/>
              <a:gd name="T58" fmla="*/ 424 w 701"/>
              <a:gd name="T59" fmla="*/ 136 h 820"/>
              <a:gd name="T60" fmla="*/ 405 w 701"/>
              <a:gd name="T61" fmla="*/ 158 h 820"/>
              <a:gd name="T62" fmla="*/ 394 w 701"/>
              <a:gd name="T63" fmla="*/ 164 h 820"/>
              <a:gd name="T64" fmla="*/ 393 w 701"/>
              <a:gd name="T65" fmla="*/ 132 h 820"/>
              <a:gd name="T66" fmla="*/ 214 w 701"/>
              <a:gd name="T67" fmla="*/ 162 h 820"/>
              <a:gd name="T68" fmla="*/ 205 w 701"/>
              <a:gd name="T69" fmla="*/ 257 h 820"/>
              <a:gd name="T70" fmla="*/ 202 w 701"/>
              <a:gd name="T71" fmla="*/ 263 h 820"/>
              <a:gd name="T72" fmla="*/ 184 w 701"/>
              <a:gd name="T73" fmla="*/ 295 h 820"/>
              <a:gd name="T74" fmla="*/ 208 w 701"/>
              <a:gd name="T75" fmla="*/ 313 h 820"/>
              <a:gd name="T76" fmla="*/ 266 w 701"/>
              <a:gd name="T77" fmla="*/ 429 h 820"/>
              <a:gd name="T78" fmla="*/ 426 w 701"/>
              <a:gd name="T79" fmla="*/ 426 h 820"/>
              <a:gd name="T80" fmla="*/ 480 w 701"/>
              <a:gd name="T81" fmla="*/ 313 h 820"/>
              <a:gd name="T82" fmla="*/ 504 w 701"/>
              <a:gd name="T83" fmla="*/ 294 h 820"/>
              <a:gd name="T84" fmla="*/ 492 w 701"/>
              <a:gd name="T85" fmla="*/ 265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01" h="820">
                <a:moveTo>
                  <a:pt x="696" y="807"/>
                </a:moveTo>
                <a:cubicBezTo>
                  <a:pt x="688" y="820"/>
                  <a:pt x="688" y="820"/>
                  <a:pt x="688" y="820"/>
                </a:cubicBezTo>
                <a:cubicBezTo>
                  <a:pt x="670" y="820"/>
                  <a:pt x="670" y="820"/>
                  <a:pt x="670" y="820"/>
                </a:cubicBezTo>
                <a:cubicBezTo>
                  <a:pt x="21" y="820"/>
                  <a:pt x="21" y="820"/>
                  <a:pt x="21" y="820"/>
                </a:cubicBezTo>
                <a:cubicBezTo>
                  <a:pt x="0" y="820"/>
                  <a:pt x="0" y="820"/>
                  <a:pt x="0" y="820"/>
                </a:cubicBezTo>
                <a:cubicBezTo>
                  <a:pt x="0" y="800"/>
                  <a:pt x="0" y="800"/>
                  <a:pt x="0" y="800"/>
                </a:cubicBezTo>
                <a:cubicBezTo>
                  <a:pt x="1" y="760"/>
                  <a:pt x="5" y="707"/>
                  <a:pt x="19" y="655"/>
                </a:cubicBezTo>
                <a:cubicBezTo>
                  <a:pt x="33" y="601"/>
                  <a:pt x="57" y="549"/>
                  <a:pt x="99" y="512"/>
                </a:cubicBezTo>
                <a:cubicBezTo>
                  <a:pt x="105" y="507"/>
                  <a:pt x="105" y="507"/>
                  <a:pt x="105" y="507"/>
                </a:cubicBezTo>
                <a:cubicBezTo>
                  <a:pt x="113" y="507"/>
                  <a:pt x="113" y="507"/>
                  <a:pt x="113" y="507"/>
                </a:cubicBezTo>
                <a:cubicBezTo>
                  <a:pt x="204" y="507"/>
                  <a:pt x="204" y="507"/>
                  <a:pt x="204" y="507"/>
                </a:cubicBezTo>
                <a:cubicBezTo>
                  <a:pt x="204" y="549"/>
                  <a:pt x="204" y="549"/>
                  <a:pt x="204" y="549"/>
                </a:cubicBezTo>
                <a:cubicBezTo>
                  <a:pt x="121" y="548"/>
                  <a:pt x="121" y="548"/>
                  <a:pt x="121" y="548"/>
                </a:cubicBezTo>
                <a:cubicBezTo>
                  <a:pt x="89" y="578"/>
                  <a:pt x="70" y="621"/>
                  <a:pt x="58" y="665"/>
                </a:cubicBezTo>
                <a:cubicBezTo>
                  <a:pt x="48" y="705"/>
                  <a:pt x="43" y="746"/>
                  <a:pt x="42" y="780"/>
                </a:cubicBezTo>
                <a:cubicBezTo>
                  <a:pt x="655" y="779"/>
                  <a:pt x="655" y="779"/>
                  <a:pt x="655" y="779"/>
                </a:cubicBezTo>
                <a:cubicBezTo>
                  <a:pt x="656" y="741"/>
                  <a:pt x="644" y="695"/>
                  <a:pt x="631" y="653"/>
                </a:cubicBezTo>
                <a:cubicBezTo>
                  <a:pt x="617" y="610"/>
                  <a:pt x="597" y="573"/>
                  <a:pt x="573" y="548"/>
                </a:cubicBezTo>
                <a:cubicBezTo>
                  <a:pt x="477" y="548"/>
                  <a:pt x="477" y="548"/>
                  <a:pt x="477" y="548"/>
                </a:cubicBezTo>
                <a:cubicBezTo>
                  <a:pt x="477" y="507"/>
                  <a:pt x="477" y="507"/>
                  <a:pt x="477" y="507"/>
                </a:cubicBezTo>
                <a:cubicBezTo>
                  <a:pt x="586" y="507"/>
                  <a:pt x="586" y="507"/>
                  <a:pt x="586" y="507"/>
                </a:cubicBezTo>
                <a:cubicBezTo>
                  <a:pt x="595" y="509"/>
                  <a:pt x="595" y="509"/>
                  <a:pt x="595" y="509"/>
                </a:cubicBezTo>
                <a:cubicBezTo>
                  <a:pt x="627" y="539"/>
                  <a:pt x="653" y="588"/>
                  <a:pt x="670" y="640"/>
                </a:cubicBezTo>
                <a:cubicBezTo>
                  <a:pt x="687" y="695"/>
                  <a:pt x="701" y="759"/>
                  <a:pt x="696" y="807"/>
                </a:cubicBezTo>
                <a:close/>
                <a:moveTo>
                  <a:pt x="354" y="752"/>
                </a:moveTo>
                <a:cubicBezTo>
                  <a:pt x="300" y="711"/>
                  <a:pt x="300" y="711"/>
                  <a:pt x="300" y="711"/>
                </a:cubicBezTo>
                <a:cubicBezTo>
                  <a:pt x="335" y="569"/>
                  <a:pt x="335" y="569"/>
                  <a:pt x="335" y="569"/>
                </a:cubicBezTo>
                <a:cubicBezTo>
                  <a:pt x="322" y="547"/>
                  <a:pt x="322" y="547"/>
                  <a:pt x="322" y="547"/>
                </a:cubicBezTo>
                <a:cubicBezTo>
                  <a:pt x="323" y="525"/>
                  <a:pt x="323" y="525"/>
                  <a:pt x="323" y="525"/>
                </a:cubicBezTo>
                <a:cubicBezTo>
                  <a:pt x="348" y="524"/>
                  <a:pt x="356" y="524"/>
                  <a:pt x="381" y="525"/>
                </a:cubicBezTo>
                <a:cubicBezTo>
                  <a:pt x="382" y="547"/>
                  <a:pt x="382" y="547"/>
                  <a:pt x="382" y="547"/>
                </a:cubicBezTo>
                <a:cubicBezTo>
                  <a:pt x="369" y="569"/>
                  <a:pt x="369" y="569"/>
                  <a:pt x="369" y="569"/>
                </a:cubicBezTo>
                <a:cubicBezTo>
                  <a:pt x="409" y="711"/>
                  <a:pt x="409" y="711"/>
                  <a:pt x="409" y="711"/>
                </a:cubicBezTo>
                <a:cubicBezTo>
                  <a:pt x="354" y="752"/>
                  <a:pt x="354" y="752"/>
                  <a:pt x="354" y="752"/>
                </a:cubicBezTo>
                <a:close/>
                <a:moveTo>
                  <a:pt x="512" y="341"/>
                </a:moveTo>
                <a:cubicBezTo>
                  <a:pt x="498" y="389"/>
                  <a:pt x="479" y="425"/>
                  <a:pt x="454" y="452"/>
                </a:cubicBezTo>
                <a:cubicBezTo>
                  <a:pt x="426" y="481"/>
                  <a:pt x="392" y="498"/>
                  <a:pt x="348" y="507"/>
                </a:cubicBezTo>
                <a:cubicBezTo>
                  <a:pt x="345" y="508"/>
                  <a:pt x="345" y="508"/>
                  <a:pt x="345" y="508"/>
                </a:cubicBezTo>
                <a:cubicBezTo>
                  <a:pt x="341" y="508"/>
                  <a:pt x="341" y="508"/>
                  <a:pt x="341" y="508"/>
                </a:cubicBezTo>
                <a:cubicBezTo>
                  <a:pt x="302" y="501"/>
                  <a:pt x="268" y="484"/>
                  <a:pt x="239" y="455"/>
                </a:cubicBezTo>
                <a:cubicBezTo>
                  <a:pt x="212" y="428"/>
                  <a:pt x="191" y="391"/>
                  <a:pt x="177" y="342"/>
                </a:cubicBezTo>
                <a:cubicBezTo>
                  <a:pt x="164" y="335"/>
                  <a:pt x="155" y="324"/>
                  <a:pt x="149" y="309"/>
                </a:cubicBezTo>
                <a:cubicBezTo>
                  <a:pt x="142" y="293"/>
                  <a:pt x="139" y="271"/>
                  <a:pt x="139" y="246"/>
                </a:cubicBezTo>
                <a:cubicBezTo>
                  <a:pt x="139" y="236"/>
                  <a:pt x="139" y="236"/>
                  <a:pt x="139" y="236"/>
                </a:cubicBezTo>
                <a:cubicBezTo>
                  <a:pt x="148" y="231"/>
                  <a:pt x="148" y="231"/>
                  <a:pt x="148" y="231"/>
                </a:cubicBezTo>
                <a:cubicBezTo>
                  <a:pt x="150" y="229"/>
                  <a:pt x="153" y="227"/>
                  <a:pt x="156" y="226"/>
                </a:cubicBezTo>
                <a:cubicBezTo>
                  <a:pt x="143" y="150"/>
                  <a:pt x="147" y="85"/>
                  <a:pt x="193" y="42"/>
                </a:cubicBezTo>
                <a:cubicBezTo>
                  <a:pt x="229" y="15"/>
                  <a:pt x="294" y="34"/>
                  <a:pt x="353" y="25"/>
                </a:cubicBezTo>
                <a:cubicBezTo>
                  <a:pt x="521" y="0"/>
                  <a:pt x="520" y="85"/>
                  <a:pt x="537" y="229"/>
                </a:cubicBezTo>
                <a:cubicBezTo>
                  <a:pt x="538" y="230"/>
                  <a:pt x="539" y="230"/>
                  <a:pt x="540" y="231"/>
                </a:cubicBezTo>
                <a:cubicBezTo>
                  <a:pt x="548" y="236"/>
                  <a:pt x="548" y="236"/>
                  <a:pt x="548" y="236"/>
                </a:cubicBezTo>
                <a:cubicBezTo>
                  <a:pt x="548" y="246"/>
                  <a:pt x="548" y="246"/>
                  <a:pt x="548" y="246"/>
                </a:cubicBezTo>
                <a:cubicBezTo>
                  <a:pt x="549" y="271"/>
                  <a:pt x="546" y="292"/>
                  <a:pt x="539" y="308"/>
                </a:cubicBezTo>
                <a:cubicBezTo>
                  <a:pt x="533" y="323"/>
                  <a:pt x="524" y="334"/>
                  <a:pt x="512" y="341"/>
                </a:cubicBezTo>
                <a:close/>
                <a:moveTo>
                  <a:pt x="492" y="265"/>
                </a:moveTo>
                <a:cubicBezTo>
                  <a:pt x="490" y="256"/>
                  <a:pt x="490" y="256"/>
                  <a:pt x="490" y="256"/>
                </a:cubicBezTo>
                <a:cubicBezTo>
                  <a:pt x="484" y="257"/>
                  <a:pt x="484" y="257"/>
                  <a:pt x="484" y="257"/>
                </a:cubicBezTo>
                <a:cubicBezTo>
                  <a:pt x="481" y="240"/>
                  <a:pt x="481" y="240"/>
                  <a:pt x="481" y="240"/>
                </a:cubicBezTo>
                <a:cubicBezTo>
                  <a:pt x="479" y="227"/>
                  <a:pt x="475" y="161"/>
                  <a:pt x="470" y="150"/>
                </a:cubicBezTo>
                <a:cubicBezTo>
                  <a:pt x="455" y="156"/>
                  <a:pt x="439" y="145"/>
                  <a:pt x="424" y="136"/>
                </a:cubicBezTo>
                <a:cubicBezTo>
                  <a:pt x="417" y="160"/>
                  <a:pt x="417" y="160"/>
                  <a:pt x="417" y="160"/>
                </a:cubicBezTo>
                <a:cubicBezTo>
                  <a:pt x="405" y="158"/>
                  <a:pt x="405" y="158"/>
                  <a:pt x="405" y="158"/>
                </a:cubicBezTo>
                <a:cubicBezTo>
                  <a:pt x="406" y="144"/>
                  <a:pt x="406" y="144"/>
                  <a:pt x="406" y="144"/>
                </a:cubicBezTo>
                <a:cubicBezTo>
                  <a:pt x="394" y="164"/>
                  <a:pt x="394" y="164"/>
                  <a:pt x="394" y="164"/>
                </a:cubicBezTo>
                <a:cubicBezTo>
                  <a:pt x="382" y="162"/>
                  <a:pt x="382" y="162"/>
                  <a:pt x="382" y="162"/>
                </a:cubicBezTo>
                <a:cubicBezTo>
                  <a:pt x="393" y="132"/>
                  <a:pt x="393" y="132"/>
                  <a:pt x="393" y="132"/>
                </a:cubicBezTo>
                <a:cubicBezTo>
                  <a:pt x="334" y="173"/>
                  <a:pt x="231" y="171"/>
                  <a:pt x="218" y="153"/>
                </a:cubicBezTo>
                <a:cubicBezTo>
                  <a:pt x="216" y="155"/>
                  <a:pt x="215" y="159"/>
                  <a:pt x="214" y="162"/>
                </a:cubicBezTo>
                <a:cubicBezTo>
                  <a:pt x="211" y="173"/>
                  <a:pt x="208" y="242"/>
                  <a:pt x="205" y="253"/>
                </a:cubicBezTo>
                <a:cubicBezTo>
                  <a:pt x="205" y="257"/>
                  <a:pt x="205" y="257"/>
                  <a:pt x="205" y="257"/>
                </a:cubicBezTo>
                <a:cubicBezTo>
                  <a:pt x="204" y="257"/>
                  <a:pt x="204" y="257"/>
                  <a:pt x="204" y="257"/>
                </a:cubicBezTo>
                <a:cubicBezTo>
                  <a:pt x="204" y="260"/>
                  <a:pt x="203" y="261"/>
                  <a:pt x="202" y="263"/>
                </a:cubicBezTo>
                <a:cubicBezTo>
                  <a:pt x="197" y="260"/>
                  <a:pt x="187" y="262"/>
                  <a:pt x="178" y="264"/>
                </a:cubicBezTo>
                <a:cubicBezTo>
                  <a:pt x="179" y="276"/>
                  <a:pt x="181" y="286"/>
                  <a:pt x="184" y="295"/>
                </a:cubicBezTo>
                <a:cubicBezTo>
                  <a:pt x="188" y="303"/>
                  <a:pt x="192" y="308"/>
                  <a:pt x="198" y="310"/>
                </a:cubicBezTo>
                <a:cubicBezTo>
                  <a:pt x="208" y="313"/>
                  <a:pt x="208" y="313"/>
                  <a:pt x="208" y="313"/>
                </a:cubicBezTo>
                <a:cubicBezTo>
                  <a:pt x="211" y="323"/>
                  <a:pt x="211" y="323"/>
                  <a:pt x="211" y="323"/>
                </a:cubicBezTo>
                <a:cubicBezTo>
                  <a:pt x="224" y="371"/>
                  <a:pt x="243" y="405"/>
                  <a:pt x="266" y="429"/>
                </a:cubicBezTo>
                <a:cubicBezTo>
                  <a:pt x="288" y="451"/>
                  <a:pt x="314" y="464"/>
                  <a:pt x="344" y="470"/>
                </a:cubicBezTo>
                <a:cubicBezTo>
                  <a:pt x="378" y="462"/>
                  <a:pt x="405" y="448"/>
                  <a:pt x="426" y="426"/>
                </a:cubicBezTo>
                <a:cubicBezTo>
                  <a:pt x="449" y="402"/>
                  <a:pt x="465" y="369"/>
                  <a:pt x="478" y="323"/>
                </a:cubicBezTo>
                <a:cubicBezTo>
                  <a:pt x="480" y="313"/>
                  <a:pt x="480" y="313"/>
                  <a:pt x="480" y="313"/>
                </a:cubicBezTo>
                <a:cubicBezTo>
                  <a:pt x="490" y="310"/>
                  <a:pt x="490" y="310"/>
                  <a:pt x="490" y="310"/>
                </a:cubicBezTo>
                <a:cubicBezTo>
                  <a:pt x="496" y="308"/>
                  <a:pt x="500" y="302"/>
                  <a:pt x="504" y="294"/>
                </a:cubicBezTo>
                <a:cubicBezTo>
                  <a:pt x="507" y="286"/>
                  <a:pt x="509" y="276"/>
                  <a:pt x="510" y="264"/>
                </a:cubicBezTo>
                <a:cubicBezTo>
                  <a:pt x="504" y="264"/>
                  <a:pt x="499" y="264"/>
                  <a:pt x="492" y="265"/>
                </a:cubicBezTo>
                <a:close/>
              </a:path>
            </a:pathLst>
          </a:custGeom>
          <a:solidFill>
            <a:srgbClr val="9A0000"/>
          </a:solidFill>
          <a:ln w="10192">
            <a:solidFill>
              <a:srgbClr val="9A0000"/>
            </a:solidFill>
          </a:ln>
          <a:effectLst/>
        </p:spPr>
        <p:txBody>
          <a:bodyPr vert="horz" wrap="square" lIns="97841" tIns="48920" rIns="97841" bIns="48920" numCol="1" anchor="t" anchorCtr="0" compatLnSpc="1"/>
          <a:lstStyle/>
          <a:p>
            <a:endParaRPr lang="zh-CN" altLang="en-US" sz="1925">
              <a:solidFill>
                <a:schemeClr val="bg1"/>
              </a:solidFill>
              <a:latin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0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ShanghaiTech">
      <a:dk1>
        <a:sysClr val="windowText" lastClr="000000"/>
      </a:dk1>
      <a:lt1>
        <a:sysClr val="window" lastClr="FFFFFF"/>
      </a:lt1>
      <a:dk2>
        <a:srgbClr val="A40006"/>
      </a:dk2>
      <a:lt2>
        <a:srgbClr val="E7E6E6"/>
      </a:lt2>
      <a:accent1>
        <a:srgbClr val="004098"/>
      </a:accent1>
      <a:accent2>
        <a:srgbClr val="009944"/>
      </a:accent2>
      <a:accent3>
        <a:srgbClr val="F39800"/>
      </a:accent3>
      <a:accent4>
        <a:srgbClr val="7E3C93"/>
      </a:accent4>
      <a:accent5>
        <a:srgbClr val="269BC1"/>
      </a:accent5>
      <a:accent6>
        <a:srgbClr val="A40006"/>
      </a:accent6>
      <a:hlink>
        <a:srgbClr val="A40006"/>
      </a:hlink>
      <a:folHlink>
        <a:srgbClr val="A40006"/>
      </a:folHlink>
    </a:clrScheme>
    <a:fontScheme name="微软雅黑">
      <a:majorFont>
        <a:latin typeface="Times New Roman"/>
        <a:ea typeface="Times New Roman"/>
        <a:cs typeface=""/>
      </a:majorFont>
      <a:minorFont>
        <a:latin typeface="Times New Roman"/>
        <a:ea typeface="Times New Rom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1050</Words>
  <Application>Microsoft Office PowerPoint</Application>
  <PresentationFormat>宽屏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Inter</vt:lpstr>
      <vt:lpstr>PingFang SC</vt:lpstr>
      <vt:lpstr>等线</vt:lpstr>
      <vt:lpstr>思源黑体 CN Bold</vt:lpstr>
      <vt:lpstr>思源黑体 CN Normal</vt:lpstr>
      <vt:lpstr>宋体</vt:lpstr>
      <vt:lpstr>微软雅黑</vt:lpstr>
      <vt:lpstr>Arial</vt:lpstr>
      <vt:lpstr>Cambria Math</vt:lpstr>
      <vt:lpstr>Times New Roman</vt:lpstr>
      <vt:lpstr>Wingdings</vt:lpstr>
      <vt:lpstr>Office 主题​​</vt:lpstr>
      <vt:lpstr>Adaptive Keyframe Sampling for Mixed Video Understanding</vt:lpstr>
      <vt:lpstr>Contributions</vt:lpstr>
      <vt:lpstr>Background &amp; Motivation</vt:lpstr>
      <vt:lpstr>Background &amp; Motivation</vt:lpstr>
      <vt:lpstr>Methodology</vt:lpstr>
      <vt:lpstr>Methodology - Divide-and-Conquer</vt:lpstr>
      <vt:lpstr>Time Complexity Analysis</vt:lpstr>
      <vt:lpstr>Evaluation</vt:lpstr>
      <vt:lpstr>Experiment Results</vt:lpstr>
      <vt:lpstr>References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George Yao;Jiahe Shi</dc:creator>
  <cp:lastModifiedBy>Microsoft 帐户</cp:lastModifiedBy>
  <cp:revision>257</cp:revision>
  <dcterms:created xsi:type="dcterms:W3CDTF">2019-02-23T16:09:00Z</dcterms:created>
  <dcterms:modified xsi:type="dcterms:W3CDTF">2025-06-05T13:25:51Z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F681764B537E47ED800F9289C493B37E_12</vt:lpwstr>
  </property>
</Properties>
</file>